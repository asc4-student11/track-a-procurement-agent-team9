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2160" b="1" u="none" strike="noStrike">
                <a:solidFill>
                  <a:srgbClr val="000000"/>
                </a:solidFill>
                <a:uFillTx/>
                <a:latin typeface="Calibri"/>
              </a:rPr>
              <a:t>Decision count</a:t>
            </a:r>
          </a:p>
        </c:rich>
      </c:tx>
      <c:overlay val="0"/>
      <c:spPr>
        <a:noFill/>
        <a:ln w="0">
          <a:noFill/>
        </a:ln>
      </c:spPr>
    </c:title>
    <c:autoTitleDeleted val="0"/>
    <c:plotArea>
      <c:barChart>
        <c:barDir val="col"/>
        <c:grouping val="clustered"/>
        <c:varyColors val="0"/>
        <c:ser>
          <c:idx val="0"/>
          <c:order val="0"/>
          <c:tx>
            <c:strRef>
              <c:f>label 0</c:f>
              <c:strCache>
                <c:ptCount val="1"/>
                <c:pt idx="0">
                  <c:v>Decision count</c:v>
                </c:pt>
              </c:strCache>
            </c:strRef>
          </c:tx>
          <c:spPr>
            <a:solidFill>
              <a:srgbClr val="4F81B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3"/>
                <c:pt idx="0">
                  <c:v>approve</c:v>
                </c:pt>
                <c:pt idx="1">
                  <c:v>deny</c:v>
                </c:pt>
                <c:pt idx="2">
                  <c:v>escalate</c:v>
                </c:pt>
              </c:strCache>
            </c:strRef>
          </c:cat>
          <c:val>
            <c:numRef>
              <c:f>0</c:f>
              <c:numCache>
                <c:formatCode>General</c:formatCode>
                <c:ptCount val="3"/>
                <c:pt idx="0">
                  <c:v>7</c:v>
                </c:pt>
                <c:pt idx="1">
                  <c:v>4</c:v>
                </c:pt>
                <c:pt idx="2">
                  <c:v>4</c:v>
                </c:pt>
              </c:numCache>
            </c:numRef>
          </c:val>
        </c:ser>
        <c:gapWidth val="150"/>
        <c:overlap val="0"/>
        <c:axId val="37833522"/>
        <c:axId val="30213760"/>
      </c:barChart>
      <c:catAx>
        <c:axId val="37833522"/>
        <c:scaling>
          <c:orientation val="minMax"/>
        </c:scaling>
        <c:delete val="0"/>
        <c:axPos val="b"/>
        <c:numFmt formatCode="[$-409]mm/dd/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30213760"/>
        <c:crosses val="autoZero"/>
        <c:auto val="1"/>
        <c:lblAlgn val="ctr"/>
        <c:lblOffset val="100"/>
        <c:noMultiLvlLbl val="0"/>
      </c:catAx>
      <c:valAx>
        <c:axId val="30213760"/>
        <c:scaling>
          <c:orientation val="minMax"/>
          <c:max val="8"/>
          <c:min val="0"/>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37833522"/>
        <c:crosses val="autoZero"/>
        <c:crossBetween val="between"/>
      </c:valAx>
      <c:spPr>
        <a:noFill/>
        <a:ln w="0">
          <a:noFill/>
        </a:ln>
      </c:spPr>
    </c:plotArea>
    <c:plotVisOnly val="1"/>
    <c:dispBlanksAs val="gap"/>
  </c:chart>
  <c:spPr>
    <a:no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4FB1622B-92AB-44D9-9CE1-A67DC89D9A20}"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sldImg"/>
          </p:nvPr>
        </p:nvSpPr>
        <p:spPr>
          <a:xfrm>
            <a:off x="1143000" y="685800"/>
            <a:ext cx="4571640" cy="3428640"/>
          </a:xfrm>
          <a:prstGeom prst="rect">
            <a:avLst/>
          </a:prstGeom>
          <a:ln w="0">
            <a:noFill/>
          </a:ln>
        </p:spPr>
      </p:sp>
      <p:sp>
        <p:nvSpPr>
          <p:cNvPr id="14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Welcome everyone. We are presenting our Track A Procurement Intelligence Agent capstone. Our team is Vinod Kambar, Mahesh Sanampudi, and Kalishabee Shaik. We will show the business problem, spec-driven execution, quality evidence, and release readiness in a concise six-slide flow.</a:t>
            </a:r>
            <a:endParaRPr lang="en-US" sz="2000" b="0" u="none" strike="noStrike">
              <a:solidFill>
                <a:srgbClr val="000000"/>
              </a:solidFill>
              <a:effectLst/>
              <a:uFillTx/>
              <a:latin typeface="Arial"/>
            </a:endParaRPr>
          </a:p>
        </p:txBody>
      </p:sp>
      <p:sp>
        <p:nvSpPr>
          <p:cNvPr id="143"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BE7A332-1693-4B40-87BF-5C1938CDE57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sldImg"/>
          </p:nvPr>
        </p:nvSpPr>
        <p:spPr>
          <a:xfrm>
            <a:off x="1143000" y="685800"/>
            <a:ext cx="4571640" cy="3428640"/>
          </a:xfrm>
          <a:prstGeom prst="rect">
            <a:avLst/>
          </a:prstGeom>
          <a:ln w="0">
            <a:noFill/>
          </a:ln>
        </p:spPr>
      </p:sp>
      <p:sp>
        <p:nvSpPr>
          <p:cNvPr id="14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slide frames the business problem and our implemented architecture. The procurement team needed consistent triage for routine requests. We built an advisory agent that receives PurchaseRequest input, runs four checks, and emits a schema-valid recommendation with rationale for officer review.</a:t>
            </a:r>
            <a:endParaRPr lang="en-US" sz="2000" b="0" u="none" strike="noStrike">
              <a:solidFill>
                <a:srgbClr val="000000"/>
              </a:solidFill>
              <a:effectLst/>
              <a:uFillTx/>
              <a:latin typeface="Arial"/>
            </a:endParaRPr>
          </a:p>
        </p:txBody>
      </p:sp>
      <p:sp>
        <p:nvSpPr>
          <p:cNvPr id="146"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CF759F4-723E-4C8B-B866-947A4C7F5F7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sldImg"/>
          </p:nvPr>
        </p:nvSpPr>
        <p:spPr>
          <a:xfrm>
            <a:off x="1143000" y="685800"/>
            <a:ext cx="4571640" cy="3428640"/>
          </a:xfrm>
          <a:prstGeom prst="rect">
            <a:avLst/>
          </a:prstGeom>
          <a:ln w="0">
            <a:noFill/>
          </a:ln>
        </p:spPr>
      </p:sp>
      <p:sp>
        <p:nvSpPr>
          <p:cNvPr id="14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slide shows that the team followed spec-driven engineering rather than ad hoc coding. OpenSpec artifacts defined exactly what had to be implemented. The tasks checklist was completed and validation passed, which demonstrates requirements traceability and controlled change governance.</a:t>
            </a:r>
            <a:endParaRPr lang="en-US" sz="2000" b="0" u="none" strike="noStrike">
              <a:solidFill>
                <a:srgbClr val="000000"/>
              </a:solidFill>
              <a:effectLst/>
              <a:uFillTx/>
              <a:latin typeface="Arial"/>
            </a:endParaRPr>
          </a:p>
        </p:txBody>
      </p:sp>
      <p:sp>
        <p:nvSpPr>
          <p:cNvPr id="149"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77F0044-3E7C-4DE1-892B-CD0D5FECBD2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sldImg"/>
          </p:nvPr>
        </p:nvSpPr>
        <p:spPr>
          <a:xfrm>
            <a:off x="1143000" y="685800"/>
            <a:ext cx="4571640" cy="3428640"/>
          </a:xfrm>
          <a:prstGeom prst="rect">
            <a:avLst/>
          </a:prstGeom>
          <a:ln w="0">
            <a:noFill/>
          </a:ln>
        </p:spPr>
      </p:sp>
      <p:sp>
        <p:nvSpPr>
          <p:cNvPr id="15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slide summarizes objective quality evidence. The test suite is fully passing, OpenSpec validation is green, and the peer review action item was closed with documented rationale. Deterministic integration results confirm all required decision paths are reachable with zero deterministic mismatches in REQ-001 through REQ-014.</a:t>
            </a:r>
            <a:endParaRPr lang="en-US" sz="2000" b="0" u="none" strike="noStrike">
              <a:solidFill>
                <a:srgbClr val="000000"/>
              </a:solidFill>
              <a:effectLst/>
              <a:uFillTx/>
              <a:latin typeface="Arial"/>
            </a:endParaRPr>
          </a:p>
        </p:txBody>
      </p:sp>
      <p:sp>
        <p:nvSpPr>
          <p:cNvPr id="152"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B71F3A9-4E91-4157-853D-BF6C08E36B3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sldImg"/>
          </p:nvPr>
        </p:nvSpPr>
        <p:spPr>
          <a:xfrm>
            <a:off x="1143000" y="685800"/>
            <a:ext cx="4571640" cy="3428640"/>
          </a:xfrm>
          <a:prstGeom prst="rect">
            <a:avLst/>
          </a:prstGeom>
          <a:ln w="0">
            <a:noFill/>
          </a:ln>
        </p:spPr>
      </p:sp>
      <p:sp>
        <p:nvSpPr>
          <p:cNvPr id="15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final slide ties engineering execution to release governance. Commit history shows disciplined iteration, RAPID artifacts are complete, and the go/no-go gate is explicitly documented as GO with a backout path. The team can demonstrate both technical correctness and control compliance for stakeholder confidence. Closing statement: We are demo-ready with a spec-driven solution and auditable release discipline.</a:t>
            </a:r>
            <a:endParaRPr lang="en-US" sz="2000" b="0" u="none" strike="noStrike">
              <a:solidFill>
                <a:srgbClr val="000000"/>
              </a:solidFill>
              <a:effectLst/>
              <a:uFillTx/>
              <a:latin typeface="Arial"/>
            </a:endParaRPr>
          </a:p>
        </p:txBody>
      </p:sp>
      <p:sp>
        <p:nvSpPr>
          <p:cNvPr id="155"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62E7118-B2C4-46FA-AA1B-CB23FBA0904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1143000" y="685800"/>
            <a:ext cx="4571640" cy="3428640"/>
          </a:xfrm>
          <a:prstGeom prst="rect">
            <a:avLst/>
          </a:prstGeom>
          <a:ln w="0">
            <a:noFill/>
          </a:ln>
        </p:spPr>
      </p:sp>
      <p:sp>
        <p:nvSpPr>
          <p:cNvPr id="15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slide is a direct response map for the facilitator handout. For each of Categories 1 through 5, we can point to specific artifacts and completed checks. Use this as the quick navigation slide during live Q and A.</a:t>
            </a:r>
            <a:endParaRPr lang="en-US" sz="2000" b="0" u="none" strike="noStrike">
              <a:solidFill>
                <a:srgbClr val="000000"/>
              </a:solidFill>
              <a:effectLst/>
              <a:uFillTx/>
              <a:latin typeface="Arial"/>
            </a:endParaRPr>
          </a:p>
        </p:txBody>
      </p:sp>
      <p:sp>
        <p:nvSpPr>
          <p:cNvPr id="158"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A986AB9-F430-47E1-86DD-E01B7EFCE30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1143000" y="685800"/>
            <a:ext cx="4571640" cy="3428640"/>
          </a:xfrm>
          <a:prstGeom prst="rect">
            <a:avLst/>
          </a:prstGeom>
          <a:ln w="0">
            <a:noFill/>
          </a:ln>
        </p:spPr>
      </p:sp>
      <p:sp>
        <p:nvSpPr>
          <p:cNvPr id="16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Thank you for your time. We are ready for questions on architecture decisions, validation evidence, and release controls.</a:t>
            </a:r>
            <a:endParaRPr lang="en-US" sz="2000" b="0" u="none" strike="noStrike">
              <a:solidFill>
                <a:srgbClr val="000000"/>
              </a:solidFill>
              <a:effectLst/>
              <a:uFillTx/>
              <a:latin typeface="Arial"/>
            </a:endParaRPr>
          </a:p>
        </p:txBody>
      </p:sp>
      <p:sp>
        <p:nvSpPr>
          <p:cNvPr id="161"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775C546-7F86-48E7-B018-5FDF1266720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8004360-DA57-47D5-B31D-566B39B48BE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28ADBAD-4DF3-4A19-AEC2-0549A0BF385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41DA1EA-700C-4985-BEF2-ADD9C8CA10B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86A0015-D89B-42ED-9B81-FC3344939069}"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3DBD45B-127D-4F06-9E2E-5CF172CB3397}"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E5EBC9A-AB1F-468F-8D38-041CC2321DA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9DB713A-76A6-4F2E-8983-428CDEB784E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E25E806-08E9-405B-8332-7792697B697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45D90F3-8566-409F-BF66-1C40FB37374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8FFAFDF-D96D-49DF-82F7-FE5B617EB83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28321A6-E3E4-4C65-92C9-6C63C591DFB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9.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Rectangle 1"/>
          <p:cNvSpPr/>
          <p:nvPr/>
        </p:nvSpPr>
        <p:spPr>
          <a:xfrm>
            <a:off x="0" y="0"/>
            <a:ext cx="12191400" cy="502560"/>
          </a:xfrm>
          <a:prstGeom prst="rect">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 name="Rectangle 2"/>
          <p:cNvSpPr/>
          <p:nvPr/>
        </p:nvSpPr>
        <p:spPr>
          <a:xfrm>
            <a:off x="0" y="6629400"/>
            <a:ext cx="12191400" cy="228240"/>
          </a:xfrm>
          <a:prstGeom prst="rect">
            <a:avLst/>
          </a:prstGeom>
          <a:solidFill>
            <a:srgbClr val="F2F2F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9" name="TextBox 3"/>
          <p:cNvSpPr/>
          <p:nvPr/>
        </p:nvSpPr>
        <p:spPr>
          <a:xfrm>
            <a:off x="10241280" y="109800"/>
            <a:ext cx="1173960" cy="258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100" b="1" u="none" strike="noStrike">
                <a:solidFill>
                  <a:srgbClr val="FFFFFF"/>
                </a:solidFill>
                <a:effectLst/>
                <a:uFillTx/>
                <a:latin typeface="Calibri"/>
              </a:rPr>
              <a:t>Track A Capstone</a:t>
            </a:r>
            <a:endParaRPr lang="en-US" sz="1100" b="0" u="none" strike="noStrike">
              <a:solidFill>
                <a:srgbClr val="000000"/>
              </a:solidFill>
              <a:effectLst/>
              <a:uFillTx/>
              <a:latin typeface="Arial"/>
            </a:endParaRPr>
          </a:p>
        </p:txBody>
      </p:sp>
      <p:sp>
        <p:nvSpPr>
          <p:cNvPr id="70" name="Rectangle 4"/>
          <p:cNvSpPr/>
          <p:nvPr/>
        </p:nvSpPr>
        <p:spPr>
          <a:xfrm>
            <a:off x="0" y="502920"/>
            <a:ext cx="12191400" cy="61261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1" name="TextBox 5"/>
          <p:cNvSpPr/>
          <p:nvPr/>
        </p:nvSpPr>
        <p:spPr>
          <a:xfrm>
            <a:off x="822960" y="1371600"/>
            <a:ext cx="5405760" cy="7304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4200" b="1" u="none" strike="noStrike">
                <a:solidFill>
                  <a:srgbClr val="6000A0"/>
                </a:solidFill>
                <a:effectLst/>
                <a:uFillTx/>
                <a:latin typeface="Calibri"/>
              </a:rPr>
              <a:t>Track A Capstone Demo</a:t>
            </a:r>
            <a:endParaRPr lang="en-US" sz="4200" b="0" u="none" strike="noStrike">
              <a:solidFill>
                <a:srgbClr val="000000"/>
              </a:solidFill>
              <a:effectLst/>
              <a:uFillTx/>
              <a:latin typeface="Arial"/>
            </a:endParaRPr>
          </a:p>
        </p:txBody>
      </p:sp>
      <p:sp>
        <p:nvSpPr>
          <p:cNvPr id="72" name="TextBox 6"/>
          <p:cNvSpPr/>
          <p:nvPr/>
        </p:nvSpPr>
        <p:spPr>
          <a:xfrm>
            <a:off x="822960" y="2468880"/>
            <a:ext cx="5592240" cy="456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400" b="0" u="none" strike="noStrike">
                <a:solidFill>
                  <a:srgbClr val="232323"/>
                </a:solidFill>
                <a:effectLst/>
                <a:uFillTx/>
                <a:latin typeface="Calibri"/>
              </a:rPr>
              <a:t>Procurement and Vendor Intelligence Agent</a:t>
            </a:r>
            <a:endParaRPr lang="en-US" sz="2400" b="0" u="none" strike="noStrike">
              <a:solidFill>
                <a:srgbClr val="000000"/>
              </a:solidFill>
              <a:effectLst/>
              <a:uFillTx/>
              <a:latin typeface="Arial"/>
            </a:endParaRPr>
          </a:p>
        </p:txBody>
      </p:sp>
      <p:sp>
        <p:nvSpPr>
          <p:cNvPr id="73" name="Rounded Rectangle 7"/>
          <p:cNvSpPr/>
          <p:nvPr/>
        </p:nvSpPr>
        <p:spPr>
          <a:xfrm>
            <a:off x="822960" y="3657600"/>
            <a:ext cx="5668920" cy="1828440"/>
          </a:xfrm>
          <a:prstGeom prst="roundRect">
            <a:avLst>
              <a:gd name="adj" fmla="val 16667"/>
            </a:avLst>
          </a:prstGeom>
          <a:solidFill>
            <a:srgbClr val="F2F2F2"/>
          </a:solidFill>
          <a:ln>
            <a:solidFill>
              <a:srgbClr val="D7D7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1" u="none" strike="noStrike">
                <a:solidFill>
                  <a:srgbClr val="000000"/>
                </a:solidFill>
                <a:effectLst/>
                <a:uFillTx/>
                <a:latin typeface="Calibri"/>
              </a:rPr>
              <a:t>Team</a:t>
            </a:r>
            <a:endParaRPr lang="en-US" sz="18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alibri"/>
              </a:rPr>
              <a:t>Vinod Kambar</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alibri"/>
              </a:rPr>
              <a:t>Mahesh Sanampudi</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alibri"/>
              </a:rPr>
              <a:t>Kalishabee Shaik</a:t>
            </a:r>
            <a:endParaRPr lang="en-US" sz="1600" b="0" u="none" strike="noStrike">
              <a:solidFill>
                <a:srgbClr val="000000"/>
              </a:solidFill>
              <a:effectLst/>
              <a:uFillTx/>
              <a:latin typeface="Arial"/>
            </a:endParaRPr>
          </a:p>
        </p:txBody>
      </p:sp>
      <p:sp>
        <p:nvSpPr>
          <p:cNvPr id="74" name="Isosceles Triangle 8"/>
          <p:cNvSpPr/>
          <p:nvPr/>
        </p:nvSpPr>
        <p:spPr>
          <a:xfrm>
            <a:off x="8869680" y="3200400"/>
            <a:ext cx="2285640" cy="2102760"/>
          </a:xfrm>
          <a:prstGeom prst="triangle">
            <a:avLst>
              <a:gd name="adj" fmla="val 50000"/>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Rectangle 1"/>
          <p:cNvSpPr/>
          <p:nvPr/>
        </p:nvSpPr>
        <p:spPr>
          <a:xfrm>
            <a:off x="0" y="0"/>
            <a:ext cx="12191400" cy="502560"/>
          </a:xfrm>
          <a:prstGeom prst="rect">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6" name="Rectangle 2"/>
          <p:cNvSpPr/>
          <p:nvPr/>
        </p:nvSpPr>
        <p:spPr>
          <a:xfrm>
            <a:off x="0" y="6629400"/>
            <a:ext cx="12191400" cy="228240"/>
          </a:xfrm>
          <a:prstGeom prst="rect">
            <a:avLst/>
          </a:prstGeom>
          <a:solidFill>
            <a:srgbClr val="F2F2F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7" name="TextBox 3"/>
          <p:cNvSpPr/>
          <p:nvPr/>
        </p:nvSpPr>
        <p:spPr>
          <a:xfrm>
            <a:off x="10241280" y="109800"/>
            <a:ext cx="1173960" cy="258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100" b="1" u="none" strike="noStrike">
                <a:solidFill>
                  <a:srgbClr val="FFFFFF"/>
                </a:solidFill>
                <a:effectLst/>
                <a:uFillTx/>
                <a:latin typeface="Calibri"/>
              </a:rPr>
              <a:t>Track A Capstone</a:t>
            </a:r>
            <a:endParaRPr lang="en-US" sz="1100" b="0" u="none" strike="noStrike">
              <a:solidFill>
                <a:srgbClr val="000000"/>
              </a:solidFill>
              <a:effectLst/>
              <a:uFillTx/>
              <a:latin typeface="Arial"/>
            </a:endParaRPr>
          </a:p>
        </p:txBody>
      </p:sp>
      <p:sp>
        <p:nvSpPr>
          <p:cNvPr id="78" name="TextBox 4"/>
          <p:cNvSpPr/>
          <p:nvPr/>
        </p:nvSpPr>
        <p:spPr>
          <a:xfrm>
            <a:off x="548640" y="685800"/>
            <a:ext cx="5510880" cy="578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200" b="1" u="none" strike="noStrike">
                <a:solidFill>
                  <a:srgbClr val="232323"/>
                </a:solidFill>
                <a:effectLst/>
                <a:uFillTx/>
                <a:latin typeface="Calibri"/>
              </a:rPr>
              <a:t>Procurement Intelligence Agent</a:t>
            </a:r>
            <a:endParaRPr lang="en-US" sz="3200" b="0" u="none" strike="noStrike">
              <a:solidFill>
                <a:srgbClr val="000000"/>
              </a:solidFill>
              <a:effectLst/>
              <a:uFillTx/>
              <a:latin typeface="Arial"/>
            </a:endParaRPr>
          </a:p>
        </p:txBody>
      </p:sp>
      <p:sp>
        <p:nvSpPr>
          <p:cNvPr id="79" name="TextBox 5"/>
          <p:cNvSpPr/>
          <p:nvPr/>
        </p:nvSpPr>
        <p:spPr>
          <a:xfrm>
            <a:off x="548640" y="1234440"/>
            <a:ext cx="3536640" cy="3340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600" b="0" u="none" strike="noStrike">
                <a:solidFill>
                  <a:srgbClr val="5A5A5A"/>
                </a:solidFill>
                <a:effectLst/>
                <a:uFillTx/>
                <a:latin typeface="Calibri"/>
              </a:rPr>
              <a:t>Solution Overview and Business Problem</a:t>
            </a:r>
            <a:endParaRPr lang="en-US" sz="1600" b="0" u="none" strike="noStrike">
              <a:solidFill>
                <a:srgbClr val="000000"/>
              </a:solidFill>
              <a:effectLst/>
              <a:uFillTx/>
              <a:latin typeface="Arial"/>
            </a:endParaRPr>
          </a:p>
        </p:txBody>
      </p:sp>
      <p:sp>
        <p:nvSpPr>
          <p:cNvPr id="80" name="Rounded Rectangle 6"/>
          <p:cNvSpPr/>
          <p:nvPr/>
        </p:nvSpPr>
        <p:spPr>
          <a:xfrm>
            <a:off x="177840" y="1864440"/>
            <a:ext cx="5760360" cy="4480200"/>
          </a:xfrm>
          <a:prstGeom prst="roundRect">
            <a:avLst>
              <a:gd name="adj" fmla="val 16667"/>
            </a:avLst>
          </a:prstGeom>
          <a:solidFill>
            <a:srgbClr val="FFFFFF"/>
          </a:solidFill>
          <a:ln>
            <a:solidFill>
              <a:srgbClr val="D7D7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1" u="none" strike="noStrike">
                <a:solidFill>
                  <a:srgbClr val="232323"/>
                </a:solidFill>
                <a:effectLst/>
                <a:uFillTx/>
                <a:latin typeface="Calibri"/>
              </a:rPr>
              <a:t>Problem</a:t>
            </a:r>
            <a:r>
              <a:rPr lang="en-US" sz="1800" b="0" u="none" strike="noStrike">
                <a:solidFill>
                  <a:srgbClr val="232323"/>
                </a:solidFill>
                <a:effectLst/>
                <a:uFillTx/>
                <a:latin typeface="Calibri"/>
              </a:rPr>
              <a:t>: procurement teams process hundreds of requests weekly; routine triage steals time from complex, high-risk decisions.</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232323"/>
                </a:solidFill>
                <a:effectLst/>
                <a:uFillTx/>
                <a:latin typeface="Calibri"/>
              </a:rPr>
              <a:t>Pain point:</a:t>
            </a:r>
            <a:r>
              <a:rPr lang="en-US" sz="1800" b="0" u="none" strike="noStrike">
                <a:solidFill>
                  <a:srgbClr val="232323"/>
                </a:solidFill>
                <a:effectLst/>
                <a:uFillTx/>
                <a:latin typeface="Calibri"/>
              </a:rPr>
              <a:t> inconsistent manual checks across budget, vendor contract status, policy rules, and risk signals can delay approvals and increase compliance exposure.</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000080"/>
                </a:solidFill>
                <a:effectLst/>
                <a:uFillTx/>
                <a:latin typeface="Calibri"/>
              </a:rPr>
              <a:t>Solution: </a:t>
            </a:r>
            <a:r>
              <a:rPr lang="en-US" sz="1800" b="0" u="none" strike="noStrike">
                <a:solidFill>
                  <a:srgbClr val="232323"/>
                </a:solidFill>
                <a:effectLst/>
                <a:uFillTx/>
                <a:latin typeface="Calibri"/>
              </a:rPr>
              <a:t>advisory agent returns approve, deny, or escalate with explicit rationale tied to tool findings.</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232323"/>
                </a:solidFill>
                <a:effectLst/>
                <a:uFillTx/>
                <a:latin typeface="Calibri"/>
              </a:rPr>
              <a:t>Impact:</a:t>
            </a:r>
            <a:r>
              <a:rPr lang="en-US" sz="1800" b="0" u="none" strike="noStrike">
                <a:solidFill>
                  <a:srgbClr val="232323"/>
                </a:solidFill>
                <a:effectLst/>
                <a:uFillTx/>
                <a:latin typeface="Calibri"/>
              </a:rPr>
              <a:t> faster, more consistent pre-screening with auditable decision evidence for procurement officers.</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232323"/>
                </a:solidFill>
                <a:effectLst/>
                <a:uFillTx/>
                <a:latin typeface="Calibri"/>
              </a:rPr>
              <a:t>Evidence source:</a:t>
            </a:r>
            <a:r>
              <a:rPr lang="en-US" sz="1800" b="0" u="none" strike="noStrike">
                <a:solidFill>
                  <a:srgbClr val="232323"/>
                </a:solidFill>
                <a:effectLst/>
                <a:uFillTx/>
                <a:latin typeface="Calibri"/>
              </a:rPr>
              <a:t> README scenario and acceptance criteria.</a:t>
            </a:r>
            <a:endParaRPr lang="en-US" sz="1800" b="0" u="none" strike="noStrike">
              <a:solidFill>
                <a:srgbClr val="000000"/>
              </a:solidFill>
              <a:effectLst/>
              <a:uFillTx/>
              <a:latin typeface="Arial"/>
            </a:endParaRPr>
          </a:p>
        </p:txBody>
      </p:sp>
      <p:sp>
        <p:nvSpPr>
          <p:cNvPr id="81" name="Rounded Rectangle 7"/>
          <p:cNvSpPr/>
          <p:nvPr/>
        </p:nvSpPr>
        <p:spPr>
          <a:xfrm>
            <a:off x="8092800" y="2057400"/>
            <a:ext cx="1919880" cy="566640"/>
          </a:xfrm>
          <a:prstGeom prst="roundRect">
            <a:avLst>
              <a:gd name="adj" fmla="val 16667"/>
            </a:avLst>
          </a:prstGeom>
          <a:solidFill>
            <a:srgbClr val="9304FD"/>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0" u="none" strike="noStrike">
                <a:solidFill>
                  <a:schemeClr val="lt1"/>
                </a:solidFill>
                <a:effectLst/>
                <a:uFillTx/>
                <a:latin typeface="Calibri"/>
              </a:rPr>
              <a:t>PurchaseRequest</a:t>
            </a:r>
            <a:endParaRPr lang="en-US" sz="1800" b="0" u="none" strike="noStrike">
              <a:solidFill>
                <a:srgbClr val="000080"/>
              </a:solidFill>
              <a:effectLst/>
              <a:uFillTx/>
              <a:latin typeface="Arial"/>
            </a:endParaRPr>
          </a:p>
        </p:txBody>
      </p:sp>
      <p:sp>
        <p:nvSpPr>
          <p:cNvPr id="82" name="Rounded Rectangle 8"/>
          <p:cNvSpPr/>
          <p:nvPr/>
        </p:nvSpPr>
        <p:spPr>
          <a:xfrm>
            <a:off x="8092800" y="2834640"/>
            <a:ext cx="1919880" cy="566640"/>
          </a:xfrm>
          <a:prstGeom prst="roundRect">
            <a:avLst>
              <a:gd name="adj" fmla="val 16667"/>
            </a:avLst>
          </a:prstGeom>
          <a:solidFill>
            <a:srgbClr val="A000F0"/>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0" u="none" strike="noStrike">
                <a:solidFill>
                  <a:srgbClr val="FFFFFF"/>
                </a:solidFill>
                <a:effectLst/>
                <a:uFillTx/>
                <a:latin typeface="Calibri"/>
              </a:rPr>
              <a:t>agent.py</a:t>
            </a:r>
            <a:endParaRPr lang="en-US" sz="1800" b="0" u="none" strike="noStrike">
              <a:solidFill>
                <a:srgbClr val="FFFFFF"/>
              </a:solidFill>
              <a:effectLst/>
              <a:uFillTx/>
              <a:latin typeface="Arial"/>
            </a:endParaRPr>
          </a:p>
        </p:txBody>
      </p:sp>
      <p:sp>
        <p:nvSpPr>
          <p:cNvPr id="83" name="Rounded Rectangle 9"/>
          <p:cNvSpPr/>
          <p:nvPr/>
        </p:nvSpPr>
        <p:spPr>
          <a:xfrm>
            <a:off x="5989680" y="3703320"/>
            <a:ext cx="1919880" cy="566640"/>
          </a:xfrm>
          <a:prstGeom prst="roundRect">
            <a:avLst>
              <a:gd name="adj" fmla="val 16667"/>
            </a:avLst>
          </a:prstGeom>
          <a:solidFill>
            <a:srgbClr val="AC0EF3"/>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0" u="none" strike="noStrike">
                <a:solidFill>
                  <a:schemeClr val="lt1"/>
                </a:solidFill>
                <a:effectLst/>
                <a:uFillTx/>
                <a:latin typeface="Calibri"/>
              </a:rPr>
              <a:t>tools/*</a:t>
            </a:r>
            <a:endParaRPr lang="en-US" sz="1800" b="0" u="none" strike="noStrike">
              <a:solidFill>
                <a:srgbClr val="FFFFFF"/>
              </a:solidFill>
              <a:effectLst/>
              <a:uFillTx/>
              <a:latin typeface="Arial"/>
            </a:endParaRPr>
          </a:p>
        </p:txBody>
      </p:sp>
      <p:sp>
        <p:nvSpPr>
          <p:cNvPr id="84" name="Rounded Rectangle 10"/>
          <p:cNvSpPr/>
          <p:nvPr/>
        </p:nvSpPr>
        <p:spPr>
          <a:xfrm>
            <a:off x="8092800" y="3703320"/>
            <a:ext cx="1919880" cy="566640"/>
          </a:xfrm>
          <a:prstGeom prst="roundRect">
            <a:avLst>
              <a:gd name="adj" fmla="val 16667"/>
            </a:avLst>
          </a:prstGeom>
          <a:solidFill>
            <a:srgbClr val="AC0EF3"/>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0" u="none" strike="noStrike">
                <a:solidFill>
                  <a:schemeClr val="lt1"/>
                </a:solidFill>
                <a:effectLst/>
                <a:uFillTx/>
                <a:latin typeface="Calibri"/>
              </a:rPr>
              <a:t>models.py</a:t>
            </a:r>
            <a:endParaRPr lang="en-US" sz="1800" b="0" u="none" strike="noStrike">
              <a:solidFill>
                <a:srgbClr val="FFFFFF"/>
              </a:solidFill>
              <a:effectLst/>
              <a:uFillTx/>
              <a:latin typeface="Arial"/>
            </a:endParaRPr>
          </a:p>
        </p:txBody>
      </p:sp>
      <p:sp>
        <p:nvSpPr>
          <p:cNvPr id="85" name="Rounded Rectangle 11"/>
          <p:cNvSpPr/>
          <p:nvPr/>
        </p:nvSpPr>
        <p:spPr>
          <a:xfrm>
            <a:off x="10195920" y="3703320"/>
            <a:ext cx="1919880" cy="566640"/>
          </a:xfrm>
          <a:prstGeom prst="roundRect">
            <a:avLst>
              <a:gd name="adj" fmla="val 16667"/>
            </a:avLst>
          </a:prstGeom>
          <a:solidFill>
            <a:srgbClr val="AC0EF3"/>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0" u="none" strike="noStrike">
                <a:solidFill>
                  <a:schemeClr val="lt1"/>
                </a:solidFill>
                <a:effectLst/>
                <a:uFillTx/>
                <a:latin typeface="Calibri"/>
              </a:rPr>
              <a:t>data/loader.py</a:t>
            </a:r>
            <a:endParaRPr lang="en-US" sz="1800" b="0" u="none" strike="noStrike">
              <a:solidFill>
                <a:srgbClr val="FFFFFF"/>
              </a:solidFill>
              <a:effectLst/>
              <a:uFillTx/>
              <a:latin typeface="Arial"/>
            </a:endParaRPr>
          </a:p>
        </p:txBody>
      </p:sp>
      <p:sp>
        <p:nvSpPr>
          <p:cNvPr id="86" name="Rounded Rectangle 12"/>
          <p:cNvSpPr/>
          <p:nvPr/>
        </p:nvSpPr>
        <p:spPr>
          <a:xfrm>
            <a:off x="8092800" y="4572000"/>
            <a:ext cx="1919880" cy="566640"/>
          </a:xfrm>
          <a:prstGeom prst="roundRect">
            <a:avLst>
              <a:gd name="adj" fmla="val 16667"/>
            </a:avLst>
          </a:prstGeom>
          <a:solidFill>
            <a:srgbClr val="6000A0"/>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0" u="none" strike="noStrike">
                <a:solidFill>
                  <a:srgbClr val="FFFFFF"/>
                </a:solidFill>
                <a:effectLst/>
                <a:uFillTx/>
                <a:latin typeface="Calibri"/>
              </a:rPr>
              <a:t>Recommendation</a:t>
            </a:r>
            <a:endParaRPr lang="en-US" sz="1800" b="0" u="none" strike="noStrike">
              <a:solidFill>
                <a:srgbClr val="FFFFFF"/>
              </a:solidFill>
              <a:effectLst/>
              <a:uFillTx/>
              <a:latin typeface="Arial"/>
            </a:endParaRPr>
          </a:p>
        </p:txBody>
      </p:sp>
      <p:cxnSp>
        <p:nvCxnSpPr>
          <p:cNvPr id="87" name="Connector 13"/>
          <p:cNvCxnSpPr/>
          <p:nvPr/>
        </p:nvCxnSpPr>
        <p:spPr>
          <a:xfrm>
            <a:off x="9052920" y="2624040"/>
            <a:ext cx="360" cy="210960"/>
          </a:xfrm>
          <a:prstGeom prst="straightConnector1">
            <a:avLst/>
          </a:prstGeom>
          <a:ln>
            <a:solidFill>
              <a:srgbClr val="4F81BD"/>
            </a:solidFill>
            <a:round/>
          </a:ln>
        </p:spPr>
      </p:cxnSp>
      <p:cxnSp>
        <p:nvCxnSpPr>
          <p:cNvPr id="88" name="Connector 14"/>
          <p:cNvCxnSpPr/>
          <p:nvPr/>
        </p:nvCxnSpPr>
        <p:spPr>
          <a:xfrm flipH="1">
            <a:off x="6995520" y="3401280"/>
            <a:ext cx="2057760" cy="302400"/>
          </a:xfrm>
          <a:prstGeom prst="straightConnector1">
            <a:avLst/>
          </a:prstGeom>
          <a:ln>
            <a:solidFill>
              <a:srgbClr val="4F81BD"/>
            </a:solidFill>
            <a:round/>
          </a:ln>
        </p:spPr>
      </p:cxnSp>
      <p:cxnSp>
        <p:nvCxnSpPr>
          <p:cNvPr id="89" name="Connector 15"/>
          <p:cNvCxnSpPr/>
          <p:nvPr/>
        </p:nvCxnSpPr>
        <p:spPr>
          <a:xfrm>
            <a:off x="9052920" y="3401280"/>
            <a:ext cx="360" cy="302400"/>
          </a:xfrm>
          <a:prstGeom prst="straightConnector1">
            <a:avLst/>
          </a:prstGeom>
          <a:ln>
            <a:solidFill>
              <a:srgbClr val="4F81BD"/>
            </a:solidFill>
            <a:round/>
          </a:ln>
        </p:spPr>
      </p:cxnSp>
      <p:cxnSp>
        <p:nvCxnSpPr>
          <p:cNvPr id="90" name="Connector 16"/>
          <p:cNvCxnSpPr/>
          <p:nvPr/>
        </p:nvCxnSpPr>
        <p:spPr>
          <a:xfrm>
            <a:off x="9052920" y="3401280"/>
            <a:ext cx="2240640" cy="302400"/>
          </a:xfrm>
          <a:prstGeom prst="straightConnector1">
            <a:avLst/>
          </a:prstGeom>
          <a:ln>
            <a:solidFill>
              <a:srgbClr val="4F81BD"/>
            </a:solidFill>
            <a:round/>
          </a:ln>
        </p:spPr>
      </p:cxnSp>
      <p:cxnSp>
        <p:nvCxnSpPr>
          <p:cNvPr id="91" name="Connector 17"/>
          <p:cNvCxnSpPr/>
          <p:nvPr/>
        </p:nvCxnSpPr>
        <p:spPr>
          <a:xfrm>
            <a:off x="9052920" y="4269960"/>
            <a:ext cx="360" cy="302400"/>
          </a:xfrm>
          <a:prstGeom prst="straightConnector1">
            <a:avLst/>
          </a:prstGeom>
          <a:ln>
            <a:solidFill>
              <a:srgbClr val="4F81BD"/>
            </a:solidFill>
            <a:round/>
          </a:ln>
        </p:spPr>
      </p:cxn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Rectangle 1"/>
          <p:cNvSpPr/>
          <p:nvPr/>
        </p:nvSpPr>
        <p:spPr>
          <a:xfrm>
            <a:off x="0" y="0"/>
            <a:ext cx="12191400" cy="502560"/>
          </a:xfrm>
          <a:prstGeom prst="rect">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3" name="Rectangle 2"/>
          <p:cNvSpPr/>
          <p:nvPr/>
        </p:nvSpPr>
        <p:spPr>
          <a:xfrm>
            <a:off x="0" y="6629400"/>
            <a:ext cx="12191400" cy="228240"/>
          </a:xfrm>
          <a:prstGeom prst="rect">
            <a:avLst/>
          </a:prstGeom>
          <a:solidFill>
            <a:srgbClr val="F2F2F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4" name="TextBox 3"/>
          <p:cNvSpPr/>
          <p:nvPr/>
        </p:nvSpPr>
        <p:spPr>
          <a:xfrm>
            <a:off x="10241280" y="109800"/>
            <a:ext cx="1173960" cy="258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100" b="1" u="none" strike="noStrike">
                <a:solidFill>
                  <a:srgbClr val="FFFFFF"/>
                </a:solidFill>
                <a:effectLst/>
                <a:uFillTx/>
                <a:latin typeface="Calibri"/>
              </a:rPr>
              <a:t>Track A Capstone</a:t>
            </a:r>
            <a:endParaRPr lang="en-US" sz="1100" b="0" u="none" strike="noStrike">
              <a:solidFill>
                <a:srgbClr val="000000"/>
              </a:solidFill>
              <a:effectLst/>
              <a:uFillTx/>
              <a:latin typeface="Arial"/>
            </a:endParaRPr>
          </a:p>
        </p:txBody>
      </p:sp>
      <p:sp>
        <p:nvSpPr>
          <p:cNvPr id="95" name="TextBox 4"/>
          <p:cNvSpPr/>
          <p:nvPr/>
        </p:nvSpPr>
        <p:spPr>
          <a:xfrm>
            <a:off x="548640" y="685800"/>
            <a:ext cx="3690000" cy="578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200" b="1" u="none" strike="noStrike">
                <a:solidFill>
                  <a:srgbClr val="232323"/>
                </a:solidFill>
                <a:effectLst/>
                <a:uFillTx/>
                <a:latin typeface="Calibri"/>
              </a:rPr>
              <a:t>Spec-Driven Delivery</a:t>
            </a:r>
            <a:endParaRPr lang="en-US" sz="3200" b="0" u="none" strike="noStrike">
              <a:solidFill>
                <a:srgbClr val="000000"/>
              </a:solidFill>
              <a:effectLst/>
              <a:uFillTx/>
              <a:latin typeface="Arial"/>
            </a:endParaRPr>
          </a:p>
        </p:txBody>
      </p:sp>
      <p:sp>
        <p:nvSpPr>
          <p:cNvPr id="96" name="TextBox 5"/>
          <p:cNvSpPr/>
          <p:nvPr/>
        </p:nvSpPr>
        <p:spPr>
          <a:xfrm>
            <a:off x="534960" y="1261800"/>
            <a:ext cx="3154320" cy="3340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600" b="0" u="none" strike="noStrike">
                <a:solidFill>
                  <a:srgbClr val="5A5A5A"/>
                </a:solidFill>
                <a:effectLst/>
                <a:uFillTx/>
                <a:latin typeface="Calibri"/>
              </a:rPr>
              <a:t>OpenSpec workflow and traceability</a:t>
            </a:r>
            <a:endParaRPr lang="en-US" sz="1600" b="0" u="none" strike="noStrike">
              <a:solidFill>
                <a:srgbClr val="000000"/>
              </a:solidFill>
              <a:effectLst/>
              <a:uFillTx/>
              <a:latin typeface="Arial"/>
            </a:endParaRPr>
          </a:p>
        </p:txBody>
      </p:sp>
      <p:sp>
        <p:nvSpPr>
          <p:cNvPr id="97" name="Rounded Rectangle 6"/>
          <p:cNvSpPr/>
          <p:nvPr/>
        </p:nvSpPr>
        <p:spPr>
          <a:xfrm>
            <a:off x="548640" y="1737360"/>
            <a:ext cx="5760360" cy="4480200"/>
          </a:xfrm>
          <a:prstGeom prst="roundRect">
            <a:avLst>
              <a:gd name="adj" fmla="val 16667"/>
            </a:avLst>
          </a:prstGeom>
          <a:solidFill>
            <a:srgbClr val="FFFFFF"/>
          </a:solidFill>
          <a:ln>
            <a:solidFill>
              <a:srgbClr val="D7D7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1" u="none" strike="noStrike">
                <a:solidFill>
                  <a:srgbClr val="232323"/>
                </a:solidFill>
                <a:effectLst/>
                <a:uFillTx/>
                <a:latin typeface="Calibri"/>
              </a:rPr>
              <a:t>OpenSpec artifacts present:</a:t>
            </a:r>
            <a:r>
              <a:rPr lang="en-US" sz="1800" b="0" u="none" strike="noStrike">
                <a:solidFill>
                  <a:srgbClr val="232323"/>
                </a:solidFill>
                <a:effectLst/>
                <a:uFillTx/>
                <a:latin typeface="Calibri"/>
              </a:rPr>
              <a:t> proposal.md, tasks.md, and design/spec deltas.</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232323"/>
                </a:solidFill>
                <a:effectLst/>
                <a:uFillTx/>
                <a:latin typeface="Calibri"/>
              </a:rPr>
              <a:t>Spec deltas define what changed and why:</a:t>
            </a:r>
            <a:r>
              <a:rPr lang="en-US" sz="1800" b="0" u="none" strike="noStrike">
                <a:solidFill>
                  <a:srgbClr val="232323"/>
                </a:solidFill>
                <a:effectLst/>
                <a:uFillTx/>
                <a:latin typeface="Calibri"/>
              </a:rPr>
              <a:t> contracts, tools, precedence, and fallback behavior.</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232323"/>
                </a:solidFill>
                <a:effectLst/>
                <a:uFillTx/>
                <a:latin typeface="Calibri"/>
              </a:rPr>
              <a:t>Traceability shown: </a:t>
            </a:r>
            <a:r>
              <a:rPr lang="en-US" sz="1800" b="0" u="none" strike="noStrike">
                <a:solidFill>
                  <a:srgbClr val="232323"/>
                </a:solidFill>
                <a:effectLst/>
                <a:uFillTx/>
                <a:latin typeface="Calibri"/>
              </a:rPr>
              <a:t>tasks.md item -&gt; implementation module -&gt; test evidence.</a:t>
            </a:r>
            <a:endParaRPr lang="en-US" sz="1800" b="0" u="none" strike="noStrike">
              <a:solidFill>
                <a:srgbClr val="000000"/>
              </a:solidFill>
              <a:effectLst/>
              <a:uFillTx/>
              <a:latin typeface="Arial"/>
            </a:endParaRPr>
          </a:p>
          <a:p>
            <a:pPr defTabSz="457200">
              <a:lnSpc>
                <a:spcPct val="100000"/>
              </a:lnSpc>
            </a:pPr>
            <a:r>
              <a:rPr lang="en-US" sz="1800" b="0" u="none" strike="noStrike">
                <a:solidFill>
                  <a:srgbClr val="232323"/>
                </a:solidFill>
                <a:effectLst/>
                <a:uFillTx/>
                <a:latin typeface="Calibri"/>
              </a:rPr>
              <a:t>Behavior deltas reconciled with spec and re-validated through openspec validate.</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232323"/>
                </a:solidFill>
                <a:effectLst/>
                <a:uFillTx/>
                <a:latin typeface="Calibri"/>
              </a:rPr>
              <a:t>Key design decision documented:</a:t>
            </a:r>
            <a:r>
              <a:rPr lang="en-US" sz="1800" b="0" u="none" strike="noStrike">
                <a:solidFill>
                  <a:srgbClr val="232323"/>
                </a:solidFill>
                <a:effectLst/>
                <a:uFillTx/>
                <a:latin typeface="Calibri"/>
              </a:rPr>
              <a:t> deterministic priority escalate &gt; deny &gt; approve.</a:t>
            </a:r>
            <a:endParaRPr lang="en-US" sz="1800" b="0" u="none" strike="noStrike">
              <a:solidFill>
                <a:srgbClr val="000000"/>
              </a:solidFill>
              <a:effectLst/>
              <a:uFillTx/>
              <a:latin typeface="Arial"/>
            </a:endParaRPr>
          </a:p>
        </p:txBody>
      </p:sp>
      <p:graphicFrame>
        <p:nvGraphicFramePr>
          <p:cNvPr id="98" name="Table 7"/>
          <p:cNvGraphicFramePr/>
          <p:nvPr/>
        </p:nvGraphicFramePr>
        <p:xfrm>
          <a:off x="6770880" y="1703160"/>
          <a:ext cx="4937400" cy="3383280"/>
        </p:xfrm>
        <a:graphic>
          <a:graphicData uri="http://schemas.openxmlformats.org/drawingml/2006/table">
            <a:tbl>
              <a:tblPr/>
              <a:tblGrid>
                <a:gridCol w="2468880"/>
                <a:gridCol w="2468880"/>
              </a:tblGrid>
              <a:tr h="487440">
                <a:tc>
                  <a:txBody>
                    <a:bodyPr anchor="t">
                      <a:noAutofit/>
                    </a:bodyPr>
                    <a:p>
                      <a:pPr defTabSz="457200">
                        <a:lnSpc>
                          <a:spcPct val="100000"/>
                        </a:lnSpc>
                      </a:pPr>
                      <a:r>
                        <a:rPr lang="en-US" sz="1800" b="0" u="none" strike="noStrike">
                          <a:solidFill>
                            <a:srgbClr val="FFFFFF"/>
                          </a:solidFill>
                          <a:effectLst/>
                          <a:uFillTx/>
                          <a:latin typeface="Calibri"/>
                        </a:rPr>
                        <a:t>Check-in question</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t">
                      <a:noAutofit/>
                    </a:bodyPr>
                    <a:p>
                      <a:pPr defTabSz="457200">
                        <a:lnSpc>
                          <a:spcPct val="100000"/>
                        </a:lnSpc>
                      </a:pPr>
                      <a:r>
                        <a:rPr lang="en-US" sz="1800" b="0" u="none" strike="noStrike">
                          <a:solidFill>
                            <a:srgbClr val="FFFFFF"/>
                          </a:solidFill>
                          <a:effectLst/>
                          <a:uFillTx/>
                          <a:latin typeface="Calibri"/>
                        </a:rPr>
                        <a:t>Status</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r>
              <a:tr h="487440">
                <a:tc>
                  <a:txBody>
                    <a:bodyPr anchor="t">
                      <a:noAutofit/>
                    </a:bodyPr>
                    <a:p>
                      <a:pPr defTabSz="457200">
                        <a:lnSpc>
                          <a:spcPct val="100000"/>
                        </a:lnSpc>
                      </a:pPr>
                      <a:r>
                        <a:rPr lang="en-US" sz="1800" b="0" u="none" strike="noStrike">
                          <a:solidFill>
                            <a:srgbClr val="000000"/>
                          </a:solidFill>
                          <a:effectLst/>
                          <a:uFillTx/>
                          <a:latin typeface="Calibri"/>
                        </a:rPr>
                        <a:t>Required artifacts shown?</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800" b="0" u="none" strike="noStrike">
                          <a:solidFill>
                            <a:srgbClr val="000000"/>
                          </a:solidFill>
                          <a:effectLst/>
                          <a:uFillTx/>
                          <a:latin typeface="Calibri"/>
                        </a:rPr>
                        <a:t>Yes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487440">
                <a:tc>
                  <a:txBody>
                    <a:bodyPr anchor="t">
                      <a:noAutofit/>
                    </a:bodyPr>
                    <a:p>
                      <a:pPr defTabSz="457200">
                        <a:lnSpc>
                          <a:spcPct val="100000"/>
                        </a:lnSpc>
                      </a:pPr>
                      <a:r>
                        <a:rPr lang="en-US" sz="1800" b="0" u="none" strike="noStrike">
                          <a:solidFill>
                            <a:srgbClr val="000000"/>
                          </a:solidFill>
                          <a:effectLst/>
                          <a:uFillTx/>
                          <a:latin typeface="Calibri"/>
                        </a:rPr>
                        <a:t>Spec deltas coherent?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800" b="0" u="none" strike="noStrike">
                          <a:solidFill>
                            <a:srgbClr val="000000"/>
                          </a:solidFill>
                          <a:effectLst/>
                          <a:uFillTx/>
                          <a:latin typeface="Calibri"/>
                        </a:rPr>
                        <a:t>Yes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487440">
                <a:tc>
                  <a:txBody>
                    <a:bodyPr anchor="t">
                      <a:noAutofit/>
                    </a:bodyPr>
                    <a:p>
                      <a:pPr defTabSz="457200">
                        <a:lnSpc>
                          <a:spcPct val="100000"/>
                        </a:lnSpc>
                      </a:pPr>
                      <a:r>
                        <a:rPr lang="en-US" sz="1800" b="0" u="none" strike="noStrike">
                          <a:solidFill>
                            <a:srgbClr val="000000"/>
                          </a:solidFill>
                          <a:effectLst/>
                          <a:uFillTx/>
                          <a:latin typeface="Calibri"/>
                        </a:rPr>
                        <a:t>Task -&gt; code -&gt; test link?</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800" b="0" u="none" strike="noStrike">
                          <a:solidFill>
                            <a:srgbClr val="000000"/>
                          </a:solidFill>
                          <a:effectLst/>
                          <a:uFillTx/>
                          <a:latin typeface="Calibri"/>
                        </a:rPr>
                        <a:t>Yes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487440">
                <a:tc>
                  <a:txBody>
                    <a:bodyPr anchor="t">
                      <a:noAutofit/>
                    </a:bodyPr>
                    <a:p>
                      <a:pPr defTabSz="457200">
                        <a:lnSpc>
                          <a:spcPct val="100000"/>
                        </a:lnSpc>
                      </a:pPr>
                      <a:r>
                        <a:rPr lang="en-US" sz="1800" b="0" u="none" strike="noStrike">
                          <a:solidFill>
                            <a:srgbClr val="000000"/>
                          </a:solidFill>
                          <a:effectLst/>
                          <a:uFillTx/>
                          <a:latin typeface="Calibri"/>
                        </a:rPr>
                        <a:t>Design decision captured?</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800" b="0" u="none" strike="noStrike">
                          <a:solidFill>
                            <a:srgbClr val="000000"/>
                          </a:solidFill>
                          <a:effectLst/>
                          <a:uFillTx/>
                          <a:latin typeface="Calibri"/>
                        </a:rPr>
                        <a:t>Yes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487440">
                <a:tc>
                  <a:txBody>
                    <a:bodyPr anchor="t">
                      <a:noAutofit/>
                    </a:bodyPr>
                    <a:p>
                      <a:pPr defTabSz="457200">
                        <a:lnSpc>
                          <a:spcPct val="100000"/>
                        </a:lnSpc>
                      </a:pPr>
                      <a:r>
                        <a:rPr lang="en-US" sz="1800" b="0" u="none" strike="noStrike">
                          <a:solidFill>
                            <a:srgbClr val="000000"/>
                          </a:solidFill>
                          <a:effectLst/>
                          <a:uFillTx/>
                          <a:latin typeface="Calibri"/>
                        </a:rPr>
                        <a:t>OpenSpec validate pass?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800" b="0" u="none" strike="noStrike">
                          <a:solidFill>
                            <a:srgbClr val="000000"/>
                          </a:solidFill>
                          <a:effectLst/>
                          <a:uFillTx/>
                          <a:latin typeface="Calibri"/>
                        </a:rPr>
                        <a:t>1 passed / 0 failed</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bl>
          </a:graphicData>
        </a:graphic>
      </p:graphicFrame>
      <p:sp>
        <p:nvSpPr>
          <p:cNvPr id="99" name="Chevron 8"/>
          <p:cNvSpPr/>
          <p:nvPr/>
        </p:nvSpPr>
        <p:spPr>
          <a:xfrm>
            <a:off x="6702840" y="5361840"/>
            <a:ext cx="1508400" cy="594000"/>
          </a:xfrm>
          <a:prstGeom prst="chevron">
            <a:avLst>
              <a:gd name="adj" fmla="val 50000"/>
            </a:avLst>
          </a:prstGeom>
          <a:solidFill>
            <a:srgbClr val="A000F0"/>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0" u="none" strike="noStrike">
                <a:solidFill>
                  <a:srgbClr val="FFFFFF"/>
                </a:solidFill>
                <a:effectLst/>
                <a:uFillTx/>
                <a:latin typeface="Calibri"/>
              </a:rPr>
              <a:t>Spec</a:t>
            </a:r>
            <a:endParaRPr lang="en-US" sz="1800" b="0" u="none" strike="noStrike">
              <a:solidFill>
                <a:srgbClr val="FFFFFF"/>
              </a:solidFill>
              <a:effectLst/>
              <a:uFillTx/>
              <a:latin typeface="Arial"/>
            </a:endParaRPr>
          </a:p>
        </p:txBody>
      </p:sp>
      <p:sp>
        <p:nvSpPr>
          <p:cNvPr id="100" name="Chevron 9"/>
          <p:cNvSpPr/>
          <p:nvPr/>
        </p:nvSpPr>
        <p:spPr>
          <a:xfrm>
            <a:off x="8348760" y="5361840"/>
            <a:ext cx="1508400" cy="594000"/>
          </a:xfrm>
          <a:prstGeom prst="chevron">
            <a:avLst>
              <a:gd name="adj" fmla="val 50000"/>
            </a:avLst>
          </a:prstGeom>
          <a:solidFill>
            <a:srgbClr val="A000F0"/>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0" u="none" strike="noStrike">
                <a:solidFill>
                  <a:srgbClr val="FFFFFF"/>
                </a:solidFill>
                <a:effectLst/>
                <a:uFillTx/>
                <a:latin typeface="Calibri"/>
              </a:rPr>
              <a:t>Build</a:t>
            </a:r>
            <a:endParaRPr lang="en-US" sz="1800" b="0" u="none" strike="noStrike">
              <a:solidFill>
                <a:srgbClr val="FFFFFF"/>
              </a:solidFill>
              <a:effectLst/>
              <a:uFillTx/>
              <a:latin typeface="Arial"/>
            </a:endParaRPr>
          </a:p>
        </p:txBody>
      </p:sp>
      <p:sp>
        <p:nvSpPr>
          <p:cNvPr id="101" name="Chevron 10"/>
          <p:cNvSpPr/>
          <p:nvPr/>
        </p:nvSpPr>
        <p:spPr>
          <a:xfrm>
            <a:off x="9994680" y="5361840"/>
            <a:ext cx="1508400" cy="594000"/>
          </a:xfrm>
          <a:prstGeom prst="chevron">
            <a:avLst>
              <a:gd name="adj" fmla="val 50000"/>
            </a:avLst>
          </a:prstGeom>
          <a:solidFill>
            <a:srgbClr val="A000F0"/>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0" u="none" strike="noStrike">
                <a:solidFill>
                  <a:srgbClr val="FFFFFF"/>
                </a:solidFill>
                <a:effectLst/>
                <a:uFillTx/>
                <a:latin typeface="Calibri"/>
              </a:rPr>
              <a:t>Verify</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Rectangle 1"/>
          <p:cNvSpPr/>
          <p:nvPr/>
        </p:nvSpPr>
        <p:spPr>
          <a:xfrm>
            <a:off x="0" y="0"/>
            <a:ext cx="12191400" cy="502560"/>
          </a:xfrm>
          <a:prstGeom prst="rect">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3" name="Rectangle 2"/>
          <p:cNvSpPr/>
          <p:nvPr/>
        </p:nvSpPr>
        <p:spPr>
          <a:xfrm>
            <a:off x="0" y="6629400"/>
            <a:ext cx="12191400" cy="228240"/>
          </a:xfrm>
          <a:prstGeom prst="rect">
            <a:avLst/>
          </a:prstGeom>
          <a:solidFill>
            <a:srgbClr val="F2F2F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4" name="TextBox 3"/>
          <p:cNvSpPr/>
          <p:nvPr/>
        </p:nvSpPr>
        <p:spPr>
          <a:xfrm>
            <a:off x="10241280" y="109800"/>
            <a:ext cx="1173960" cy="258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100" b="1" u="none" strike="noStrike">
                <a:solidFill>
                  <a:srgbClr val="FFFFFF"/>
                </a:solidFill>
                <a:effectLst/>
                <a:uFillTx/>
                <a:latin typeface="Calibri"/>
              </a:rPr>
              <a:t>Track A Capstone</a:t>
            </a:r>
            <a:endParaRPr lang="en-US" sz="1100" b="0" u="none" strike="noStrike">
              <a:solidFill>
                <a:srgbClr val="000000"/>
              </a:solidFill>
              <a:effectLst/>
              <a:uFillTx/>
              <a:latin typeface="Arial"/>
            </a:endParaRPr>
          </a:p>
        </p:txBody>
      </p:sp>
      <p:sp>
        <p:nvSpPr>
          <p:cNvPr id="105" name="TextBox 4"/>
          <p:cNvSpPr/>
          <p:nvPr/>
        </p:nvSpPr>
        <p:spPr>
          <a:xfrm>
            <a:off x="548640" y="685800"/>
            <a:ext cx="3944160" cy="578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200" b="1" u="none" strike="noStrike">
                <a:solidFill>
                  <a:srgbClr val="232323"/>
                </a:solidFill>
                <a:effectLst/>
                <a:uFillTx/>
                <a:latin typeface="Calibri"/>
              </a:rPr>
              <a:t>Validation and Quality</a:t>
            </a:r>
            <a:endParaRPr lang="en-US" sz="3200" b="0" u="none" strike="noStrike">
              <a:solidFill>
                <a:srgbClr val="000000"/>
              </a:solidFill>
              <a:effectLst/>
              <a:uFillTx/>
              <a:latin typeface="Arial"/>
            </a:endParaRPr>
          </a:p>
        </p:txBody>
      </p:sp>
      <p:sp>
        <p:nvSpPr>
          <p:cNvPr id="106" name="TextBox 5"/>
          <p:cNvSpPr/>
          <p:nvPr/>
        </p:nvSpPr>
        <p:spPr>
          <a:xfrm>
            <a:off x="548640" y="1234440"/>
            <a:ext cx="3699000" cy="3340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600" b="0" u="none" strike="noStrike">
                <a:solidFill>
                  <a:srgbClr val="5A5A5A"/>
                </a:solidFill>
                <a:effectLst/>
                <a:uFillTx/>
                <a:latin typeface="Calibri"/>
              </a:rPr>
              <a:t>Test, peer review, and integration evidence</a:t>
            </a:r>
            <a:endParaRPr lang="en-US" sz="1600" b="0" u="none" strike="noStrike">
              <a:solidFill>
                <a:srgbClr val="000000"/>
              </a:solidFill>
              <a:effectLst/>
              <a:uFillTx/>
              <a:latin typeface="Arial"/>
            </a:endParaRPr>
          </a:p>
        </p:txBody>
      </p:sp>
      <p:sp>
        <p:nvSpPr>
          <p:cNvPr id="107" name="Rounded Rectangle 6"/>
          <p:cNvSpPr/>
          <p:nvPr/>
        </p:nvSpPr>
        <p:spPr>
          <a:xfrm>
            <a:off x="548640" y="1737360"/>
            <a:ext cx="5760360" cy="4480200"/>
          </a:xfrm>
          <a:prstGeom prst="roundRect">
            <a:avLst>
              <a:gd name="adj" fmla="val 16667"/>
            </a:avLst>
          </a:prstGeom>
          <a:solidFill>
            <a:srgbClr val="FFFFFF"/>
          </a:solidFill>
          <a:ln>
            <a:solidFill>
              <a:srgbClr val="D7D7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1" u="none" strike="noStrike">
                <a:solidFill>
                  <a:srgbClr val="232323"/>
                </a:solidFill>
                <a:effectLst/>
                <a:uFillTx/>
                <a:latin typeface="Calibri"/>
              </a:rPr>
              <a:t>Agent run evidence:</a:t>
            </a:r>
            <a:r>
              <a:rPr lang="en-US" sz="1800" b="0" u="none" strike="noStrike">
                <a:solidFill>
                  <a:srgbClr val="232323"/>
                </a:solidFill>
                <a:effectLst/>
                <a:uFillTx/>
                <a:latin typeface="Calibri"/>
              </a:rPr>
              <a:t> end-to-end execution succeeds without crashes.</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232323"/>
                </a:solidFill>
                <a:effectLst/>
                <a:uFillTx/>
                <a:latin typeface="Calibri"/>
              </a:rPr>
              <a:t>Output contract evidence</a:t>
            </a:r>
            <a:r>
              <a:rPr lang="en-US" sz="1800" b="0" u="none" strike="noStrike">
                <a:solidFill>
                  <a:srgbClr val="232323"/>
                </a:solidFill>
                <a:effectLst/>
                <a:uFillTx/>
                <a:latin typeface="Calibri"/>
              </a:rPr>
              <a:t>: PurchaseRequest in, ProcurementRecommendation out.</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232323"/>
                </a:solidFill>
                <a:effectLst/>
                <a:uFillTx/>
                <a:latin typeface="Calibri"/>
              </a:rPr>
              <a:t>Core quality evidence:</a:t>
            </a:r>
            <a:r>
              <a:rPr lang="en-US" sz="1800" b="0" u="none" strike="noStrike">
                <a:solidFill>
                  <a:srgbClr val="232323"/>
                </a:solidFill>
                <a:effectLst/>
                <a:uFillTx/>
                <a:latin typeface="Calibri"/>
              </a:rPr>
              <a:t> pytest 37 passed, 0 failed, 1 warning.</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232323"/>
                </a:solidFill>
                <a:effectLst/>
                <a:uFillTx/>
                <a:latin typeface="Calibri"/>
              </a:rPr>
              <a:t>Tool-boundary resilience:</a:t>
            </a:r>
            <a:r>
              <a:rPr lang="en-US" sz="1800" b="0" u="none" strike="noStrike">
                <a:solidFill>
                  <a:srgbClr val="232323"/>
                </a:solidFill>
                <a:effectLst/>
                <a:uFillTx/>
                <a:latin typeface="Calibri"/>
              </a:rPr>
              <a:t> failures escalate safely with rationale (error-path tests).</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232323"/>
                </a:solidFill>
                <a:effectLst/>
                <a:uFillTx/>
                <a:latin typeface="Calibri"/>
              </a:rPr>
              <a:t>Decision evidence: </a:t>
            </a:r>
            <a:r>
              <a:rPr lang="en-US" sz="1800" b="0" u="none" strike="noStrike">
                <a:solidFill>
                  <a:srgbClr val="232323"/>
                </a:solidFill>
                <a:effectLst/>
                <a:uFillTx/>
                <a:latin typeface="Calibri"/>
              </a:rPr>
              <a:t>deterministic counts approve=7, deny=4, escalate=4; REQ-001..014 mismatches=0.</a:t>
            </a:r>
            <a:endParaRPr lang="en-US" sz="1800" b="0" u="none" strike="noStrike">
              <a:solidFill>
                <a:srgbClr val="000000"/>
              </a:solidFill>
              <a:effectLst/>
              <a:uFillTx/>
              <a:latin typeface="Arial"/>
            </a:endParaRPr>
          </a:p>
        </p:txBody>
      </p:sp>
      <p:graphicFrame>
        <p:nvGraphicFramePr>
          <p:cNvPr id="108" name="Chart 7"/>
          <p:cNvGraphicFramePr/>
          <p:nvPr/>
        </p:nvGraphicFramePr>
        <p:xfrm>
          <a:off x="6720840" y="1828800"/>
          <a:ext cx="4891680" cy="3565800"/>
        </p:xfrm>
        <a:graphic>
          <a:graphicData uri="http://schemas.openxmlformats.org/drawingml/2006/chart">
            <c:chart xmlns:c="http://schemas.openxmlformats.org/drawingml/2006/chart" xmlns:r="http://schemas.openxmlformats.org/officeDocument/2006/relationships" r:id="rId1"/>
          </a:graphicData>
        </a:graphic>
      </p:graphicFrame>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Rectangle 1"/>
          <p:cNvSpPr/>
          <p:nvPr/>
        </p:nvSpPr>
        <p:spPr>
          <a:xfrm>
            <a:off x="0" y="0"/>
            <a:ext cx="12191400" cy="502560"/>
          </a:xfrm>
          <a:prstGeom prst="rect">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0" name="Rectangle 2"/>
          <p:cNvSpPr/>
          <p:nvPr/>
        </p:nvSpPr>
        <p:spPr>
          <a:xfrm>
            <a:off x="0" y="6629400"/>
            <a:ext cx="12191400" cy="228240"/>
          </a:xfrm>
          <a:prstGeom prst="rect">
            <a:avLst/>
          </a:prstGeom>
          <a:solidFill>
            <a:srgbClr val="F2F2F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1" name="TextBox 3"/>
          <p:cNvSpPr/>
          <p:nvPr/>
        </p:nvSpPr>
        <p:spPr>
          <a:xfrm>
            <a:off x="10241280" y="109800"/>
            <a:ext cx="1173960" cy="258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100" b="1" u="none" strike="noStrike">
                <a:solidFill>
                  <a:srgbClr val="FFFFFF"/>
                </a:solidFill>
                <a:effectLst/>
                <a:uFillTx/>
                <a:latin typeface="Calibri"/>
              </a:rPr>
              <a:t>Track A Capstone</a:t>
            </a:r>
            <a:endParaRPr lang="en-US" sz="1100" b="0" u="none" strike="noStrike">
              <a:solidFill>
                <a:srgbClr val="000000"/>
              </a:solidFill>
              <a:effectLst/>
              <a:uFillTx/>
              <a:latin typeface="Arial"/>
            </a:endParaRPr>
          </a:p>
        </p:txBody>
      </p:sp>
      <p:sp>
        <p:nvSpPr>
          <p:cNvPr id="112" name="TextBox 4"/>
          <p:cNvSpPr/>
          <p:nvPr/>
        </p:nvSpPr>
        <p:spPr>
          <a:xfrm>
            <a:off x="548640" y="685800"/>
            <a:ext cx="6312600" cy="578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200" b="1" u="none" strike="noStrike">
                <a:solidFill>
                  <a:srgbClr val="232323"/>
                </a:solidFill>
                <a:effectLst/>
                <a:uFillTx/>
                <a:latin typeface="Calibri"/>
              </a:rPr>
              <a:t>Git Discipline and Release Readiness</a:t>
            </a:r>
            <a:endParaRPr lang="en-US" sz="3200" b="0" u="none" strike="noStrike">
              <a:solidFill>
                <a:srgbClr val="000000"/>
              </a:solidFill>
              <a:effectLst/>
              <a:uFillTx/>
              <a:latin typeface="Arial"/>
            </a:endParaRPr>
          </a:p>
        </p:txBody>
      </p:sp>
      <p:sp>
        <p:nvSpPr>
          <p:cNvPr id="113" name="TextBox 5"/>
          <p:cNvSpPr/>
          <p:nvPr/>
        </p:nvSpPr>
        <p:spPr>
          <a:xfrm>
            <a:off x="548640" y="1234440"/>
            <a:ext cx="4185000" cy="3340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600" b="0" u="none" strike="noStrike">
                <a:solidFill>
                  <a:srgbClr val="5A5A5A"/>
                </a:solidFill>
                <a:effectLst/>
                <a:uFillTx/>
                <a:latin typeface="Calibri"/>
              </a:rPr>
              <a:t>RAPID artifacts, decision gate, and demo posture</a:t>
            </a:r>
            <a:endParaRPr lang="en-US" sz="1600" b="0" u="none" strike="noStrike">
              <a:solidFill>
                <a:srgbClr val="000000"/>
              </a:solidFill>
              <a:effectLst/>
              <a:uFillTx/>
              <a:latin typeface="Arial"/>
            </a:endParaRPr>
          </a:p>
        </p:txBody>
      </p:sp>
      <p:sp>
        <p:nvSpPr>
          <p:cNvPr id="114" name="Rounded Rectangle 6"/>
          <p:cNvSpPr/>
          <p:nvPr/>
        </p:nvSpPr>
        <p:spPr>
          <a:xfrm>
            <a:off x="548640" y="1737360"/>
            <a:ext cx="5760360" cy="4480200"/>
          </a:xfrm>
          <a:prstGeom prst="roundRect">
            <a:avLst>
              <a:gd name="adj" fmla="val 16667"/>
            </a:avLst>
          </a:prstGeom>
          <a:solidFill>
            <a:srgbClr val="FFFFFF"/>
          </a:solidFill>
          <a:ln>
            <a:solidFill>
              <a:srgbClr val="D7D7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1" u="none" strike="noStrike">
                <a:solidFill>
                  <a:srgbClr val="232323"/>
                </a:solidFill>
                <a:effectLst/>
                <a:uFillTx/>
                <a:latin typeface="Calibri"/>
              </a:rPr>
              <a:t>Commit hygiene:</a:t>
            </a:r>
            <a:r>
              <a:rPr lang="en-US" sz="1800" b="0" u="none" strike="noStrike">
                <a:solidFill>
                  <a:srgbClr val="232323"/>
                </a:solidFill>
                <a:effectLst/>
                <a:uFillTx/>
                <a:latin typeface="Calibri"/>
              </a:rPr>
              <a:t> [US-005] tagging across iterative build/test/review commits.</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232323"/>
                </a:solidFill>
                <a:effectLst/>
                <a:uFillTx/>
                <a:latin typeface="Calibri"/>
              </a:rPr>
              <a:t>RAPID controls complete:</a:t>
            </a:r>
            <a:r>
              <a:rPr lang="en-US" sz="1800" b="0" u="none" strike="noStrike">
                <a:solidFill>
                  <a:srgbClr val="232323"/>
                </a:solidFill>
                <a:effectLst/>
                <a:uFillTx/>
                <a:latin typeface="Calibri"/>
              </a:rPr>
              <a:t> ITC.009 peer review + ITC.004 go/no-go checklist.</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232323"/>
                </a:solidFill>
                <a:effectLst/>
                <a:uFillTx/>
                <a:latin typeface="Calibri"/>
              </a:rPr>
              <a:t>Release readiness:</a:t>
            </a:r>
            <a:r>
              <a:rPr lang="en-US" sz="1800" b="0" u="none" strike="noStrike">
                <a:solidFill>
                  <a:srgbClr val="232323"/>
                </a:solidFill>
                <a:effectLst/>
                <a:uFillTx/>
                <a:latin typeface="Calibri"/>
              </a:rPr>
              <a:t> ITC.003 test results XML and ITC.013 backout plan committed.</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232323"/>
                </a:solidFill>
                <a:effectLst/>
                <a:uFillTx/>
                <a:latin typeface="Calibri"/>
              </a:rPr>
              <a:t>AI oversight evidence:</a:t>
            </a:r>
            <a:r>
              <a:rPr lang="en-US" sz="1800" b="0" u="none" strike="noStrike">
                <a:solidFill>
                  <a:srgbClr val="232323"/>
                </a:solidFill>
                <a:effectLst/>
                <a:uFillTx/>
                <a:latin typeface="Calibri"/>
              </a:rPr>
              <a:t> team corrected Copilot outputs and validated with tests/spec checks.</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232323"/>
                </a:solidFill>
                <a:effectLst/>
                <a:uFillTx/>
                <a:latin typeface="Calibri"/>
              </a:rPr>
              <a:t>Prompt evidence note: </a:t>
            </a:r>
            <a:r>
              <a:rPr lang="en-US" sz="1800" b="0" u="none" strike="noStrike">
                <a:solidFill>
                  <a:srgbClr val="232323"/>
                </a:solidFill>
                <a:effectLst/>
                <a:uFillTx/>
                <a:latin typeface="Calibri"/>
              </a:rPr>
              <a:t>README asks for prompts.md; equivalent prompts exist under .github/prompts.</a:t>
            </a:r>
            <a:endParaRPr lang="en-US" sz="1800" b="0" u="none" strike="noStrike">
              <a:solidFill>
                <a:srgbClr val="000000"/>
              </a:solidFill>
              <a:effectLst/>
              <a:uFillTx/>
              <a:latin typeface="Arial"/>
            </a:endParaRPr>
          </a:p>
        </p:txBody>
      </p:sp>
      <p:sp>
        <p:nvSpPr>
          <p:cNvPr id="115" name="Rounded Rectangle 7"/>
          <p:cNvSpPr/>
          <p:nvPr/>
        </p:nvSpPr>
        <p:spPr>
          <a:xfrm>
            <a:off x="6720840" y="1828800"/>
            <a:ext cx="4891680" cy="3565800"/>
          </a:xfrm>
          <a:prstGeom prst="roundRect">
            <a:avLst>
              <a:gd name="adj" fmla="val 16667"/>
            </a:avLst>
          </a:prstGeom>
          <a:solidFill>
            <a:srgbClr val="FFFFFF"/>
          </a:solidFill>
          <a:ln>
            <a:solidFill>
              <a:srgbClr val="D7D7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6" name="Oval 8"/>
          <p:cNvSpPr/>
          <p:nvPr/>
        </p:nvSpPr>
        <p:spPr>
          <a:xfrm>
            <a:off x="6949440" y="2057400"/>
            <a:ext cx="109440" cy="109440"/>
          </a:xfrm>
          <a:prstGeom prst="ellipse">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2760" rIns="90000" bIns="32760" anchor="ctr">
            <a:noAutofit/>
          </a:bodyPr>
          <a:p>
            <a:endParaRPr lang="en-US" sz="1800" b="0" u="none" strike="noStrike">
              <a:solidFill>
                <a:schemeClr val="lt1"/>
              </a:solidFill>
              <a:effectLst/>
              <a:uFillTx/>
              <a:latin typeface="Calibri"/>
            </a:endParaRPr>
          </a:p>
        </p:txBody>
      </p:sp>
      <p:sp>
        <p:nvSpPr>
          <p:cNvPr id="117" name="TextBox 9"/>
          <p:cNvSpPr/>
          <p:nvPr/>
        </p:nvSpPr>
        <p:spPr>
          <a:xfrm>
            <a:off x="7150680" y="2039040"/>
            <a:ext cx="2394360" cy="288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0" u="none" strike="noStrike">
                <a:solidFill>
                  <a:srgbClr val="232323"/>
                </a:solidFill>
                <a:effectLst/>
                <a:uFillTx/>
                <a:latin typeface="Calibri"/>
              </a:rPr>
              <a:t>6903ded  review finding resolved</a:t>
            </a:r>
            <a:endParaRPr lang="en-US" sz="1300" b="0" u="none" strike="noStrike">
              <a:solidFill>
                <a:srgbClr val="000000"/>
              </a:solidFill>
              <a:effectLst/>
              <a:uFillTx/>
              <a:latin typeface="Arial"/>
            </a:endParaRPr>
          </a:p>
        </p:txBody>
      </p:sp>
      <p:sp>
        <p:nvSpPr>
          <p:cNvPr id="118" name="Oval 10"/>
          <p:cNvSpPr/>
          <p:nvPr/>
        </p:nvSpPr>
        <p:spPr>
          <a:xfrm>
            <a:off x="6949440" y="2679120"/>
            <a:ext cx="109440" cy="109440"/>
          </a:xfrm>
          <a:prstGeom prst="ellipse">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2760" rIns="90000" bIns="32760" anchor="ctr">
            <a:noAutofit/>
          </a:bodyPr>
          <a:p>
            <a:endParaRPr lang="en-US" sz="1800" b="0" u="none" strike="noStrike">
              <a:solidFill>
                <a:schemeClr val="lt1"/>
              </a:solidFill>
              <a:effectLst/>
              <a:uFillTx/>
              <a:latin typeface="Calibri"/>
            </a:endParaRPr>
          </a:p>
        </p:txBody>
      </p:sp>
      <p:sp>
        <p:nvSpPr>
          <p:cNvPr id="119" name="TextBox 11"/>
          <p:cNvSpPr/>
          <p:nvPr/>
        </p:nvSpPr>
        <p:spPr>
          <a:xfrm>
            <a:off x="7150680" y="2660760"/>
            <a:ext cx="2527200" cy="288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0" u="none" strike="noStrike">
                <a:solidFill>
                  <a:srgbClr val="232323"/>
                </a:solidFill>
                <a:effectLst/>
                <a:uFillTx/>
                <a:latin typeface="Calibri"/>
              </a:rPr>
              <a:t>f59c5b2  ITC.003 + ITC.013 artifacts</a:t>
            </a:r>
            <a:endParaRPr lang="en-US" sz="1300" b="0" u="none" strike="noStrike">
              <a:solidFill>
                <a:srgbClr val="000000"/>
              </a:solidFill>
              <a:effectLst/>
              <a:uFillTx/>
              <a:latin typeface="Arial"/>
            </a:endParaRPr>
          </a:p>
        </p:txBody>
      </p:sp>
      <p:sp>
        <p:nvSpPr>
          <p:cNvPr id="120" name="Oval 12"/>
          <p:cNvSpPr/>
          <p:nvPr/>
        </p:nvSpPr>
        <p:spPr>
          <a:xfrm>
            <a:off x="6949440" y="3300840"/>
            <a:ext cx="109440" cy="109440"/>
          </a:xfrm>
          <a:prstGeom prst="ellipse">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2760" rIns="90000" bIns="32760" anchor="ctr">
            <a:noAutofit/>
          </a:bodyPr>
          <a:p>
            <a:endParaRPr lang="en-US" sz="1800" b="0" u="none" strike="noStrike">
              <a:solidFill>
                <a:schemeClr val="lt1"/>
              </a:solidFill>
              <a:effectLst/>
              <a:uFillTx/>
              <a:latin typeface="Calibri"/>
            </a:endParaRPr>
          </a:p>
        </p:txBody>
      </p:sp>
      <p:sp>
        <p:nvSpPr>
          <p:cNvPr id="121" name="TextBox 13"/>
          <p:cNvSpPr/>
          <p:nvPr/>
        </p:nvSpPr>
        <p:spPr>
          <a:xfrm>
            <a:off x="7150680" y="3282840"/>
            <a:ext cx="2400120" cy="288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0" u="none" strike="noStrike">
                <a:solidFill>
                  <a:srgbClr val="232323"/>
                </a:solidFill>
                <a:effectLst/>
                <a:uFillTx/>
                <a:latin typeface="Calibri"/>
              </a:rPr>
              <a:t>cdf0584  test coverage expansion</a:t>
            </a:r>
            <a:endParaRPr lang="en-US" sz="1300" b="0" u="none" strike="noStrike">
              <a:solidFill>
                <a:srgbClr val="000000"/>
              </a:solidFill>
              <a:effectLst/>
              <a:uFillTx/>
              <a:latin typeface="Arial"/>
            </a:endParaRPr>
          </a:p>
        </p:txBody>
      </p:sp>
      <p:sp>
        <p:nvSpPr>
          <p:cNvPr id="122" name="Oval 14"/>
          <p:cNvSpPr/>
          <p:nvPr/>
        </p:nvSpPr>
        <p:spPr>
          <a:xfrm>
            <a:off x="6949440" y="3922920"/>
            <a:ext cx="109440" cy="109440"/>
          </a:xfrm>
          <a:prstGeom prst="ellipse">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2760" rIns="90000" bIns="32760" anchor="ctr">
            <a:noAutofit/>
          </a:bodyPr>
          <a:p>
            <a:endParaRPr lang="en-US" sz="1800" b="0" u="none" strike="noStrike">
              <a:solidFill>
                <a:schemeClr val="lt1"/>
              </a:solidFill>
              <a:effectLst/>
              <a:uFillTx/>
              <a:latin typeface="Calibri"/>
            </a:endParaRPr>
          </a:p>
        </p:txBody>
      </p:sp>
      <p:sp>
        <p:nvSpPr>
          <p:cNvPr id="123" name="TextBox 15"/>
          <p:cNvSpPr/>
          <p:nvPr/>
        </p:nvSpPr>
        <p:spPr>
          <a:xfrm>
            <a:off x="7150680" y="3904560"/>
            <a:ext cx="2033280" cy="288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0" u="none" strike="noStrike">
                <a:solidFill>
                  <a:srgbClr val="232323"/>
                </a:solidFill>
                <a:effectLst/>
                <a:uFillTx/>
                <a:latin typeface="Calibri"/>
              </a:rPr>
              <a:t>60fb196  integration runner</a:t>
            </a:r>
            <a:endParaRPr lang="en-US" sz="1300" b="0" u="none" strike="noStrike">
              <a:solidFill>
                <a:srgbClr val="000000"/>
              </a:solidFill>
              <a:effectLst/>
              <a:uFillTx/>
              <a:latin typeface="Arial"/>
            </a:endParaRPr>
          </a:p>
        </p:txBody>
      </p:sp>
      <p:sp>
        <p:nvSpPr>
          <p:cNvPr id="124" name="Oval 16"/>
          <p:cNvSpPr/>
          <p:nvPr/>
        </p:nvSpPr>
        <p:spPr>
          <a:xfrm>
            <a:off x="6949440" y="4544640"/>
            <a:ext cx="109440" cy="109440"/>
          </a:xfrm>
          <a:prstGeom prst="ellipse">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2760" rIns="90000" bIns="32760" anchor="ctr">
            <a:noAutofit/>
          </a:bodyPr>
          <a:p>
            <a:endParaRPr lang="en-US" sz="1800" b="0" u="none" strike="noStrike">
              <a:solidFill>
                <a:schemeClr val="lt1"/>
              </a:solidFill>
              <a:effectLst/>
              <a:uFillTx/>
              <a:latin typeface="Calibri"/>
            </a:endParaRPr>
          </a:p>
        </p:txBody>
      </p:sp>
      <p:sp>
        <p:nvSpPr>
          <p:cNvPr id="125" name="TextBox 17"/>
          <p:cNvSpPr/>
          <p:nvPr/>
        </p:nvSpPr>
        <p:spPr>
          <a:xfrm>
            <a:off x="7150680" y="4526280"/>
            <a:ext cx="1742040" cy="288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0" u="none" strike="noStrike">
                <a:solidFill>
                  <a:srgbClr val="232323"/>
                </a:solidFill>
                <a:effectLst/>
                <a:uFillTx/>
                <a:latin typeface="Calibri"/>
              </a:rPr>
              <a:t>4429973  final checklist</a:t>
            </a:r>
            <a:endParaRPr lang="en-US" sz="1300" b="0" u="none" strike="noStrike">
              <a:solidFill>
                <a:srgbClr val="000000"/>
              </a:solidFill>
              <a:effectLst/>
              <a:uFillTx/>
              <a:latin typeface="Arial"/>
            </a:endParaRPr>
          </a:p>
        </p:txBody>
      </p:sp>
      <p:sp>
        <p:nvSpPr>
          <p:cNvPr id="126" name="TextBox 18"/>
          <p:cNvSpPr/>
          <p:nvPr/>
        </p:nvSpPr>
        <p:spPr>
          <a:xfrm>
            <a:off x="6812280" y="4983480"/>
            <a:ext cx="5224680" cy="2732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200" b="1" u="none" strike="noStrike">
                <a:solidFill>
                  <a:srgbClr val="6000A0"/>
                </a:solidFill>
                <a:effectLst/>
                <a:uFillTx/>
                <a:latin typeface="Calibri"/>
              </a:rPr>
              <a:t>Closing: spec-driven delivery + validated controls = demo-ready release posture.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Rectangle 1"/>
          <p:cNvSpPr/>
          <p:nvPr/>
        </p:nvSpPr>
        <p:spPr>
          <a:xfrm>
            <a:off x="0" y="0"/>
            <a:ext cx="12191400" cy="502560"/>
          </a:xfrm>
          <a:prstGeom prst="rect">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8" name="Rectangle 2"/>
          <p:cNvSpPr/>
          <p:nvPr/>
        </p:nvSpPr>
        <p:spPr>
          <a:xfrm>
            <a:off x="0" y="6629400"/>
            <a:ext cx="12191400" cy="228240"/>
          </a:xfrm>
          <a:prstGeom prst="rect">
            <a:avLst/>
          </a:prstGeom>
          <a:solidFill>
            <a:srgbClr val="F2F2F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9" name="TextBox 3"/>
          <p:cNvSpPr/>
          <p:nvPr/>
        </p:nvSpPr>
        <p:spPr>
          <a:xfrm>
            <a:off x="10241280" y="109800"/>
            <a:ext cx="1173960" cy="258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100" b="1" u="none" strike="noStrike">
                <a:solidFill>
                  <a:srgbClr val="FFFFFF"/>
                </a:solidFill>
                <a:effectLst/>
                <a:uFillTx/>
                <a:latin typeface="Calibri"/>
              </a:rPr>
              <a:t>Track A Capstone</a:t>
            </a:r>
            <a:endParaRPr lang="en-US" sz="1100" b="0" u="none" strike="noStrike">
              <a:solidFill>
                <a:srgbClr val="000000"/>
              </a:solidFill>
              <a:effectLst/>
              <a:uFillTx/>
              <a:latin typeface="Arial"/>
            </a:endParaRPr>
          </a:p>
        </p:txBody>
      </p:sp>
      <p:sp>
        <p:nvSpPr>
          <p:cNvPr id="130" name="TextBox 4"/>
          <p:cNvSpPr/>
          <p:nvPr/>
        </p:nvSpPr>
        <p:spPr>
          <a:xfrm>
            <a:off x="548640" y="685800"/>
            <a:ext cx="7457040" cy="578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200" b="1" u="none" strike="noStrike">
                <a:solidFill>
                  <a:srgbClr val="232323"/>
                </a:solidFill>
                <a:effectLst/>
                <a:uFillTx/>
                <a:latin typeface="Calibri"/>
              </a:rPr>
              <a:t>Capstone Rubric Readiness (Categories 1-5)</a:t>
            </a:r>
            <a:endParaRPr lang="en-US" sz="3200" b="0" u="none" strike="noStrike">
              <a:solidFill>
                <a:srgbClr val="000000"/>
              </a:solidFill>
              <a:effectLst/>
              <a:uFillTx/>
              <a:latin typeface="Arial"/>
            </a:endParaRPr>
          </a:p>
        </p:txBody>
      </p:sp>
      <p:sp>
        <p:nvSpPr>
          <p:cNvPr id="131" name="TextBox 5"/>
          <p:cNvSpPr/>
          <p:nvPr/>
        </p:nvSpPr>
        <p:spPr>
          <a:xfrm>
            <a:off x="548640" y="1234440"/>
            <a:ext cx="2924280" cy="3340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600" b="0" u="none" strike="noStrike">
                <a:solidFill>
                  <a:srgbClr val="5A5A5A"/>
                </a:solidFill>
                <a:effectLst/>
                <a:uFillTx/>
                <a:latin typeface="Calibri"/>
              </a:rPr>
              <a:t>Facilitator check-in response map</a:t>
            </a:r>
            <a:endParaRPr lang="en-US" sz="1600" b="0" u="none" strike="noStrike">
              <a:solidFill>
                <a:srgbClr val="000000"/>
              </a:solidFill>
              <a:effectLst/>
              <a:uFillTx/>
              <a:latin typeface="Arial"/>
            </a:endParaRPr>
          </a:p>
        </p:txBody>
      </p:sp>
      <p:sp>
        <p:nvSpPr>
          <p:cNvPr id="132" name="Rounded Rectangle 6"/>
          <p:cNvSpPr/>
          <p:nvPr/>
        </p:nvSpPr>
        <p:spPr>
          <a:xfrm>
            <a:off x="548640" y="1737360"/>
            <a:ext cx="5760360" cy="4480200"/>
          </a:xfrm>
          <a:prstGeom prst="roundRect">
            <a:avLst>
              <a:gd name="adj" fmla="val 16667"/>
            </a:avLst>
          </a:prstGeom>
          <a:solidFill>
            <a:srgbClr val="FFFFFF"/>
          </a:solidFill>
          <a:ln>
            <a:solidFill>
              <a:srgbClr val="D7D7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1" u="none" strike="noStrike">
                <a:solidFill>
                  <a:srgbClr val="000000"/>
                </a:solidFill>
                <a:effectLst/>
                <a:uFillTx/>
                <a:latin typeface="Calibri"/>
              </a:rPr>
              <a:t>Category Evidence</a:t>
            </a:r>
            <a:endParaRPr lang="en-US" sz="18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alibri"/>
              </a:rPr>
              <a:t>1.</a:t>
            </a:r>
            <a:r>
              <a:rPr lang="en-US" sz="1600" b="1" u="none" strike="noStrike">
                <a:solidFill>
                  <a:srgbClr val="000000"/>
                </a:solidFill>
                <a:effectLst/>
                <a:uFillTx/>
                <a:latin typeface="Calibri"/>
              </a:rPr>
              <a:t> Functionality:</a:t>
            </a:r>
            <a:r>
              <a:rPr lang="en-US" sz="1600" b="0" u="none" strike="noStrike">
                <a:solidFill>
                  <a:srgbClr val="000000"/>
                </a:solidFill>
                <a:effectLst/>
                <a:uFillTx/>
                <a:latin typeface="Calibri"/>
              </a:rPr>
              <a:t> live run + model-conformant output + edge cases.</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alibri"/>
              </a:rPr>
              <a:t>2. </a:t>
            </a:r>
            <a:r>
              <a:rPr lang="en-US" sz="1600" b="1" u="none" strike="noStrike">
                <a:solidFill>
                  <a:srgbClr val="000000"/>
                </a:solidFill>
                <a:effectLst/>
                <a:uFillTx/>
                <a:latin typeface="Calibri"/>
              </a:rPr>
              <a:t>Spec quality:</a:t>
            </a:r>
            <a:r>
              <a:rPr lang="en-US" sz="1600" b="0" u="none" strike="noStrike">
                <a:solidFill>
                  <a:srgbClr val="000000"/>
                </a:solidFill>
                <a:effectLst/>
                <a:uFillTx/>
                <a:latin typeface="Calibri"/>
              </a:rPr>
              <a:t> OpenSpec artifacts + delta rationale + traceability.</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alibri"/>
              </a:rPr>
              <a:t>3</a:t>
            </a:r>
            <a:r>
              <a:rPr lang="en-US" sz="1600" b="1" u="none" strike="noStrike">
                <a:solidFill>
                  <a:srgbClr val="000000"/>
                </a:solidFill>
                <a:effectLst/>
                <a:uFillTx/>
                <a:latin typeface="Calibri"/>
              </a:rPr>
              <a:t>. Engineering:</a:t>
            </a:r>
            <a:r>
              <a:rPr lang="en-US" sz="1600" b="0" u="none" strike="noStrike">
                <a:solidFill>
                  <a:srgbClr val="000000"/>
                </a:solidFill>
                <a:effectLst/>
                <a:uFillTx/>
                <a:latin typeface="Calibri"/>
              </a:rPr>
              <a:t> tests, guardrails, fallback/error handling, no secrets.</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alibri"/>
              </a:rPr>
              <a:t>4. </a:t>
            </a:r>
            <a:r>
              <a:rPr lang="en-US" sz="1600" b="1" u="none" strike="noStrike">
                <a:solidFill>
                  <a:srgbClr val="000000"/>
                </a:solidFill>
                <a:effectLst/>
                <a:uFillTx/>
                <a:latin typeface="Calibri"/>
              </a:rPr>
              <a:t>RAPID controls:</a:t>
            </a:r>
            <a:r>
              <a:rPr lang="en-US" sz="1600" b="0" u="none" strike="noStrike">
                <a:solidFill>
                  <a:srgbClr val="000000"/>
                </a:solidFill>
                <a:effectLst/>
                <a:uFillTx/>
                <a:latin typeface="Calibri"/>
              </a:rPr>
              <a:t> peer review + go/no-go completed and decisioned.</a:t>
            </a:r>
            <a:endParaRPr lang="en-US" sz="1600" b="0" u="none" strike="noStrike">
              <a:solidFill>
                <a:srgbClr val="000000"/>
              </a:solidFill>
              <a:effectLst/>
              <a:uFillTx/>
              <a:latin typeface="Arial"/>
            </a:endParaRPr>
          </a:p>
          <a:p>
            <a:pPr defTabSz="457200">
              <a:lnSpc>
                <a:spcPct val="100000"/>
              </a:lnSpc>
            </a:pPr>
            <a:r>
              <a:rPr lang="en-US" sz="1600" b="0" u="none" strike="noStrike">
                <a:solidFill>
                  <a:schemeClr val="lt1"/>
                </a:solidFill>
                <a:effectLst/>
                <a:uFillTx/>
                <a:latin typeface="Calibri"/>
              </a:rPr>
              <a:t>5. AI practice: customized instructions + iterative history + oversight.</a:t>
            </a:r>
            <a:endParaRPr lang="en-US" sz="1600" b="0" u="none" strike="noStrike">
              <a:solidFill>
                <a:srgbClr val="000000"/>
              </a:solidFill>
              <a:effectLst/>
              <a:uFillTx/>
              <a:latin typeface="Arial"/>
            </a:endParaRPr>
          </a:p>
        </p:txBody>
      </p:sp>
      <p:graphicFrame>
        <p:nvGraphicFramePr>
          <p:cNvPr id="133" name="Table 7"/>
          <p:cNvGraphicFramePr/>
          <p:nvPr/>
        </p:nvGraphicFramePr>
        <p:xfrm>
          <a:off x="6720840" y="1783080"/>
          <a:ext cx="4891680" cy="3657240"/>
        </p:xfrm>
        <a:graphic>
          <a:graphicData uri="http://schemas.openxmlformats.org/drawingml/2006/table">
            <a:tbl>
              <a:tblPr/>
              <a:tblGrid>
                <a:gridCol w="2445840"/>
                <a:gridCol w="2445840"/>
              </a:tblGrid>
              <a:tr h="609480">
                <a:tc>
                  <a:txBody>
                    <a:bodyPr anchor="t">
                      <a:noAutofit/>
                    </a:bodyPr>
                    <a:p>
                      <a:pPr defTabSz="457200">
                        <a:lnSpc>
                          <a:spcPct val="100000"/>
                        </a:lnSpc>
                      </a:pPr>
                      <a:r>
                        <a:rPr lang="en-US" sz="1800" b="0" u="none" strike="noStrike">
                          <a:solidFill>
                            <a:srgbClr val="FFFFFF"/>
                          </a:solidFill>
                          <a:effectLst/>
                          <a:uFillTx/>
                          <a:latin typeface="Calibri"/>
                        </a:rPr>
                        <a:t>Category</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t">
                      <a:noAutofit/>
                    </a:bodyPr>
                    <a:p>
                      <a:pPr defTabSz="457200">
                        <a:lnSpc>
                          <a:spcPct val="100000"/>
                        </a:lnSpc>
                      </a:pPr>
                      <a:r>
                        <a:rPr lang="en-US" sz="1800" b="0" u="none" strike="noStrike">
                          <a:solidFill>
                            <a:srgbClr val="FFFFFF"/>
                          </a:solidFill>
                          <a:effectLst/>
                          <a:uFillTx/>
                          <a:latin typeface="Calibri"/>
                        </a:rPr>
                        <a:t>Status</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r>
              <a:tr h="609480">
                <a:tc>
                  <a:txBody>
                    <a:bodyPr anchor="t">
                      <a:noAutofit/>
                    </a:bodyPr>
                    <a:p>
                      <a:pPr defTabSz="457200">
                        <a:lnSpc>
                          <a:spcPct val="100000"/>
                        </a:lnSpc>
                      </a:pPr>
                      <a:r>
                        <a:rPr lang="en-US" sz="1800" b="0" u="none" strike="noStrike">
                          <a:solidFill>
                            <a:srgbClr val="000000"/>
                          </a:solidFill>
                          <a:effectLst/>
                          <a:uFillTx/>
                          <a:latin typeface="Calibri"/>
                        </a:rPr>
                        <a:t>1 Functionality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800" b="0" u="none" strike="noStrike">
                          <a:solidFill>
                            <a:srgbClr val="000000"/>
                          </a:solidFill>
                          <a:effectLst/>
                          <a:uFillTx/>
                          <a:latin typeface="Calibri"/>
                        </a:rPr>
                        <a:t>Ready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609480">
                <a:tc>
                  <a:txBody>
                    <a:bodyPr anchor="t">
                      <a:noAutofit/>
                    </a:bodyPr>
                    <a:p>
                      <a:pPr defTabSz="457200">
                        <a:lnSpc>
                          <a:spcPct val="100000"/>
                        </a:lnSpc>
                      </a:pPr>
                      <a:r>
                        <a:rPr lang="en-US" sz="1800" b="0" u="none" strike="noStrike">
                          <a:solidFill>
                            <a:srgbClr val="000000"/>
                          </a:solidFill>
                          <a:effectLst/>
                          <a:uFillTx/>
                          <a:latin typeface="Calibri"/>
                        </a:rPr>
                        <a:t>2 Spec-driven</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800" b="0" u="none" strike="noStrike">
                          <a:solidFill>
                            <a:srgbClr val="000000"/>
                          </a:solidFill>
                          <a:effectLst/>
                          <a:uFillTx/>
                          <a:latin typeface="Calibri"/>
                        </a:rPr>
                        <a:t>Ready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609480">
                <a:tc>
                  <a:txBody>
                    <a:bodyPr anchor="t">
                      <a:noAutofit/>
                    </a:bodyPr>
                    <a:p>
                      <a:pPr defTabSz="457200">
                        <a:lnSpc>
                          <a:spcPct val="100000"/>
                        </a:lnSpc>
                      </a:pPr>
                      <a:r>
                        <a:rPr lang="en-US" sz="1800" b="0" u="none" strike="noStrike">
                          <a:solidFill>
                            <a:srgbClr val="000000"/>
                          </a:solidFill>
                          <a:effectLst/>
                          <a:uFillTx/>
                          <a:latin typeface="Calibri"/>
                        </a:rPr>
                        <a:t>3 Engineering</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800" b="0" u="none" strike="noStrike">
                          <a:solidFill>
                            <a:srgbClr val="000000"/>
                          </a:solidFill>
                          <a:effectLst/>
                          <a:uFillTx/>
                          <a:latin typeface="Calibri"/>
                        </a:rPr>
                        <a:t>Ready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609480">
                <a:tc>
                  <a:txBody>
                    <a:bodyPr anchor="t">
                      <a:noAutofit/>
                    </a:bodyPr>
                    <a:p>
                      <a:pPr defTabSz="457200">
                        <a:lnSpc>
                          <a:spcPct val="100000"/>
                        </a:lnSpc>
                      </a:pPr>
                      <a:r>
                        <a:rPr lang="en-US" sz="1800" b="0" u="none" strike="noStrike">
                          <a:solidFill>
                            <a:srgbClr val="000000"/>
                          </a:solidFill>
                          <a:effectLst/>
                          <a:uFillTx/>
                          <a:latin typeface="Calibri"/>
                        </a:rPr>
                        <a:t>4 RAPID</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800" b="0" u="none" strike="noStrike">
                          <a:solidFill>
                            <a:srgbClr val="000000"/>
                          </a:solidFill>
                          <a:effectLst/>
                          <a:uFillTx/>
                          <a:latin typeface="Calibri"/>
                        </a:rPr>
                        <a:t>Ready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609480">
                <a:tc>
                  <a:txBody>
                    <a:bodyPr anchor="t">
                      <a:noAutofit/>
                    </a:bodyPr>
                    <a:p>
                      <a:pPr defTabSz="457200">
                        <a:lnSpc>
                          <a:spcPct val="100000"/>
                        </a:lnSpc>
                      </a:pPr>
                      <a:r>
                        <a:rPr lang="en-US" sz="1800" b="0" u="none" strike="noStrike">
                          <a:solidFill>
                            <a:srgbClr val="000000"/>
                          </a:solidFill>
                          <a:effectLst/>
                          <a:uFillTx/>
                          <a:latin typeface="Calibri"/>
                        </a:rPr>
                        <a:t>5 AI practice</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800" b="0" u="none" strike="noStrike">
                          <a:solidFill>
                            <a:srgbClr val="000000"/>
                          </a:solidFill>
                          <a:effectLst/>
                          <a:uFillTx/>
                          <a:latin typeface="Calibri"/>
                        </a:rPr>
                        <a:t>Ready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bl>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Rectangle 1"/>
          <p:cNvSpPr/>
          <p:nvPr/>
        </p:nvSpPr>
        <p:spPr>
          <a:xfrm>
            <a:off x="0" y="0"/>
            <a:ext cx="12191400" cy="502560"/>
          </a:xfrm>
          <a:prstGeom prst="rect">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5" name="Rectangle 2"/>
          <p:cNvSpPr/>
          <p:nvPr/>
        </p:nvSpPr>
        <p:spPr>
          <a:xfrm>
            <a:off x="0" y="6629400"/>
            <a:ext cx="12191400" cy="228240"/>
          </a:xfrm>
          <a:prstGeom prst="rect">
            <a:avLst/>
          </a:prstGeom>
          <a:solidFill>
            <a:srgbClr val="F2F2F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6" name="TextBox 3"/>
          <p:cNvSpPr/>
          <p:nvPr/>
        </p:nvSpPr>
        <p:spPr>
          <a:xfrm>
            <a:off x="10241280" y="109800"/>
            <a:ext cx="1173960" cy="258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100" b="1" u="none" strike="noStrike">
                <a:solidFill>
                  <a:srgbClr val="FFFFFF"/>
                </a:solidFill>
                <a:effectLst/>
                <a:uFillTx/>
                <a:latin typeface="Calibri"/>
              </a:rPr>
              <a:t>Track A Capstone</a:t>
            </a:r>
            <a:endParaRPr lang="en-US" sz="1100" b="0" u="none" strike="noStrike">
              <a:solidFill>
                <a:srgbClr val="000000"/>
              </a:solidFill>
              <a:effectLst/>
              <a:uFillTx/>
              <a:latin typeface="Arial"/>
            </a:endParaRPr>
          </a:p>
        </p:txBody>
      </p:sp>
      <p:sp>
        <p:nvSpPr>
          <p:cNvPr id="137" name="Rectangle 4"/>
          <p:cNvSpPr/>
          <p:nvPr/>
        </p:nvSpPr>
        <p:spPr>
          <a:xfrm>
            <a:off x="0" y="502920"/>
            <a:ext cx="12191400" cy="61261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8" name="TextBox 5"/>
          <p:cNvSpPr/>
          <p:nvPr/>
        </p:nvSpPr>
        <p:spPr>
          <a:xfrm>
            <a:off x="914400" y="2103120"/>
            <a:ext cx="3116880" cy="9133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5400" b="1" u="none" strike="noStrike">
                <a:solidFill>
                  <a:srgbClr val="6000A0"/>
                </a:solidFill>
                <a:effectLst/>
                <a:uFillTx/>
                <a:latin typeface="Calibri"/>
              </a:rPr>
              <a:t>Thank You</a:t>
            </a:r>
            <a:endParaRPr lang="en-US" sz="5400" b="0" u="none" strike="noStrike">
              <a:solidFill>
                <a:srgbClr val="000000"/>
              </a:solidFill>
              <a:effectLst/>
              <a:uFillTx/>
              <a:latin typeface="Arial"/>
            </a:endParaRPr>
          </a:p>
        </p:txBody>
      </p:sp>
      <p:sp>
        <p:nvSpPr>
          <p:cNvPr id="139" name="TextBox 6"/>
          <p:cNvSpPr/>
          <p:nvPr/>
        </p:nvSpPr>
        <p:spPr>
          <a:xfrm>
            <a:off x="914400" y="3291840"/>
            <a:ext cx="82008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0" u="none" strike="noStrike">
                <a:solidFill>
                  <a:srgbClr val="5A5A5A"/>
                </a:solidFill>
                <a:effectLst/>
                <a:uFillTx/>
                <a:latin typeface="Calibri"/>
              </a:rPr>
              <a:t>Q&amp;A</a:t>
            </a:r>
            <a:endParaRPr lang="en-US" sz="2600" b="0" u="none" strike="noStrike">
              <a:solidFill>
                <a:srgbClr val="000000"/>
              </a:solidFill>
              <a:effectLst/>
              <a:uFillTx/>
              <a:latin typeface="Arial"/>
            </a:endParaRPr>
          </a:p>
        </p:txBody>
      </p:sp>
      <p:sp>
        <p:nvSpPr>
          <p:cNvPr id="140" name="Rectangle 7"/>
          <p:cNvSpPr/>
          <p:nvPr/>
        </p:nvSpPr>
        <p:spPr>
          <a:xfrm>
            <a:off x="0" y="6035040"/>
            <a:ext cx="12191400" cy="594000"/>
          </a:xfrm>
          <a:prstGeom prst="rect">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53</TotalTime>
  <Application>LibreOffice/26.2.4.1$Windows_X86_64 LibreOffice_project/1a563c585d9fd784842a5a6101a714090c4fd0fd</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2026-06-26T02:24:33Z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