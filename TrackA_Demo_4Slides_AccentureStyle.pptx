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2160" b="1" u="none" strike="noStrike">
                <a:solidFill>
                  <a:srgbClr val="000000"/>
                </a:solidFill>
                <a:uFillTx/>
                <a:latin typeface="Calibri"/>
              </a:rPr>
              <a:t>Decision count</a:t>
            </a:r>
          </a:p>
        </c:rich>
      </c:tx>
      <c:overlay val="0"/>
      <c:spPr>
        <a:noFill/>
        <a:ln w="0">
          <a:noFill/>
        </a:ln>
      </c:spPr>
    </c:title>
    <c:autoTitleDeleted val="0"/>
    <c:plotArea>
      <c:barChart>
        <c:barDir val="col"/>
        <c:grouping val="clustered"/>
        <c:varyColors val="0"/>
        <c:ser>
          <c:idx val="0"/>
          <c:order val="0"/>
          <c:tx>
            <c:strRef>
              <c:f>label 0</c:f>
              <c:strCache>
                <c:ptCount val="1"/>
                <c:pt idx="0">
                  <c:v>Decision count</c:v>
                </c:pt>
              </c:strCache>
            </c:strRef>
          </c:tx>
          <c:spPr>
            <a:solidFill>
              <a:srgbClr val="4F81BD"/>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3"/>
                <c:pt idx="0">
                  <c:v>approve</c:v>
                </c:pt>
                <c:pt idx="1">
                  <c:v>deny</c:v>
                </c:pt>
                <c:pt idx="2">
                  <c:v>escalate</c:v>
                </c:pt>
              </c:strCache>
            </c:strRef>
          </c:cat>
          <c:val>
            <c:numRef>
              <c:f>0</c:f>
              <c:numCache>
                <c:formatCode>General</c:formatCode>
                <c:ptCount val="3"/>
                <c:pt idx="0">
                  <c:v>7</c:v>
                </c:pt>
                <c:pt idx="1">
                  <c:v>4</c:v>
                </c:pt>
                <c:pt idx="2">
                  <c:v>4</c:v>
                </c:pt>
              </c:numCache>
            </c:numRef>
          </c:val>
        </c:ser>
        <c:gapWidth val="150"/>
        <c:overlap val="0"/>
        <c:axId val="37901916"/>
        <c:axId val="37840384"/>
      </c:barChart>
      <c:catAx>
        <c:axId val="37901916"/>
        <c:scaling>
          <c:orientation val="minMax"/>
        </c:scaling>
        <c:delete val="0"/>
        <c:axPos val="b"/>
        <c:numFmt formatCode="[$-409]mm/dd/yyyy"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37840384"/>
        <c:crosses val="autoZero"/>
        <c:auto val="1"/>
        <c:lblAlgn val="ctr"/>
        <c:lblOffset val="100"/>
        <c:noMultiLvlLbl val="0"/>
      </c:catAx>
      <c:valAx>
        <c:axId val="37840384"/>
        <c:scaling>
          <c:orientation val="minMax"/>
          <c:max val="8"/>
          <c:min val="0"/>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sz="1800" b="0" u="none" strike="noStrike">
                <a:solidFill>
                  <a:srgbClr val="000000"/>
                </a:solidFill>
                <a:uFillTx/>
                <a:latin typeface="Calibri"/>
              </a:defRPr>
            </a:pPr>
          </a:p>
        </c:txPr>
        <c:crossAx val="37901916"/>
        <c:crosses val="autoZero"/>
        <c:crossBetween val="between"/>
      </c:valAx>
      <c:spPr>
        <a:noFill/>
        <a:ln w="0">
          <a:noFill/>
        </a:ln>
      </c:spPr>
    </c:plotArea>
    <c:plotVisOnly val="1"/>
    <c:dispBlanksAs val="gap"/>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FC3E08F9-E09C-4947-9176-985795EBFB12}"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Img"/>
          </p:nvPr>
        </p:nvSpPr>
        <p:spPr>
          <a:xfrm>
            <a:off x="1143000" y="685800"/>
            <a:ext cx="4571640" cy="3428640"/>
          </a:xfrm>
          <a:prstGeom prst="rect">
            <a:avLst/>
          </a:prstGeom>
          <a:ln w="0">
            <a:noFill/>
          </a:ln>
        </p:spPr>
      </p:sp>
      <p:sp>
        <p:nvSpPr>
          <p:cNvPr id="13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Welcome everyone. We are presenting our Track A Procurement Intelligence Agent capstone. Our team is Vinod Kambar, Mahesh Sanampudi, and Kalishabee Shaik. We will show the business problem, spec-driven execution, quality evidence, and release readiness in a concise six-slide flow.</a:t>
            </a:r>
            <a:endParaRPr lang="en-US" sz="2000" b="0" u="none" strike="noStrike">
              <a:solidFill>
                <a:srgbClr val="000000"/>
              </a:solidFill>
              <a:effectLst/>
              <a:uFillTx/>
              <a:latin typeface="Arial"/>
            </a:endParaRPr>
          </a:p>
        </p:txBody>
      </p:sp>
      <p:sp>
        <p:nvSpPr>
          <p:cNvPr id="136"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5272461-4393-4AB5-9B6F-CF0F006CD41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1143000" y="685800"/>
            <a:ext cx="4571640" cy="3428640"/>
          </a:xfrm>
          <a:prstGeom prst="rect">
            <a:avLst/>
          </a:prstGeom>
          <a:ln w="0">
            <a:noFill/>
          </a:ln>
        </p:spPr>
      </p:sp>
      <p:sp>
        <p:nvSpPr>
          <p:cNvPr id="13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frames the business problem and our implemented architecture. The procurement team needed consistent triage for routine requests. We built an advisory agent that receives PurchaseRequest input, runs four checks, and emits a schema-valid recommendation with rationale for officer review.</a:t>
            </a:r>
            <a:endParaRPr lang="en-US" sz="2000" b="0" u="none" strike="noStrike">
              <a:solidFill>
                <a:srgbClr val="000000"/>
              </a:solidFill>
              <a:effectLst/>
              <a:uFillTx/>
              <a:latin typeface="Arial"/>
            </a:endParaRPr>
          </a:p>
        </p:txBody>
      </p:sp>
      <p:sp>
        <p:nvSpPr>
          <p:cNvPr id="139"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AC6A180-F970-42F0-BB56-30F06FD7ABB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sldImg"/>
          </p:nvPr>
        </p:nvSpPr>
        <p:spPr>
          <a:xfrm>
            <a:off x="1143000" y="685800"/>
            <a:ext cx="4571640" cy="3428640"/>
          </a:xfrm>
          <a:prstGeom prst="rect">
            <a:avLst/>
          </a:prstGeom>
          <a:ln w="0">
            <a:noFill/>
          </a:ln>
        </p:spPr>
      </p:sp>
      <p:sp>
        <p:nvSpPr>
          <p:cNvPr id="14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shows that the team followed spec-driven engineering rather than ad hoc coding. OpenSpec artifacts defined exactly what had to be implemented. The tasks checklist was completed and validation passed, which demonstrates requirements traceability and controlled change governance.</a:t>
            </a:r>
            <a:endParaRPr lang="en-US" sz="2000" b="0" u="none" strike="noStrike">
              <a:solidFill>
                <a:srgbClr val="000000"/>
              </a:solidFill>
              <a:effectLst/>
              <a:uFillTx/>
              <a:latin typeface="Arial"/>
            </a:endParaRPr>
          </a:p>
        </p:txBody>
      </p:sp>
      <p:sp>
        <p:nvSpPr>
          <p:cNvPr id="142"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326B9C-4F16-486D-8203-28CF1D2824B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1143000" y="685800"/>
            <a:ext cx="4571640" cy="3428640"/>
          </a:xfrm>
          <a:prstGeom prst="rect">
            <a:avLst/>
          </a:prstGeom>
          <a:ln w="0">
            <a:noFill/>
          </a:ln>
        </p:spPr>
      </p:sp>
      <p:sp>
        <p:nvSpPr>
          <p:cNvPr id="14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summarizes objective quality evidence. The test suite is fully passing, OpenSpec validation is green, and the peer review action item was closed with documented rationale. Deterministic integration results confirm all required decision paths are reachable with zero deterministic mismatches in REQ-001 through REQ-014.</a:t>
            </a:r>
            <a:endParaRPr lang="en-US" sz="2000" b="0" u="none" strike="noStrike">
              <a:solidFill>
                <a:srgbClr val="000000"/>
              </a:solidFill>
              <a:effectLst/>
              <a:uFillTx/>
              <a:latin typeface="Arial"/>
            </a:endParaRPr>
          </a:p>
        </p:txBody>
      </p:sp>
      <p:sp>
        <p:nvSpPr>
          <p:cNvPr id="145"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5EE2ECA-17FC-43EF-9105-E339E196974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sldImg"/>
          </p:nvPr>
        </p:nvSpPr>
        <p:spPr>
          <a:xfrm>
            <a:off x="1143000" y="685800"/>
            <a:ext cx="4571640" cy="3428640"/>
          </a:xfrm>
          <a:prstGeom prst="rect">
            <a:avLst/>
          </a:prstGeom>
          <a:ln w="0">
            <a:noFill/>
          </a:ln>
        </p:spPr>
      </p:sp>
      <p:sp>
        <p:nvSpPr>
          <p:cNvPr id="14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final slide ties engineering execution to release governance. Commit history shows disciplined iteration, RAPID artifacts are complete, and the go/no-go gate is explicitly documented as GO with a backout path. The team can demonstrate both technical correctness and control compliance for stakeholder confidence. Closing statement: We are demo-ready with a spec-driven solution and auditable release discipline.</a:t>
            </a:r>
            <a:endParaRPr lang="en-US" sz="2000" b="0" u="none" strike="noStrike">
              <a:solidFill>
                <a:srgbClr val="000000"/>
              </a:solidFill>
              <a:effectLst/>
              <a:uFillTx/>
              <a:latin typeface="Arial"/>
            </a:endParaRPr>
          </a:p>
        </p:txBody>
      </p:sp>
      <p:sp>
        <p:nvSpPr>
          <p:cNvPr id="148"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10C2E65-B355-4614-B6E6-1E04A9E65A4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sldImg"/>
          </p:nvPr>
        </p:nvSpPr>
        <p:spPr>
          <a:xfrm>
            <a:off x="1143000" y="685800"/>
            <a:ext cx="4571640" cy="3428640"/>
          </a:xfrm>
          <a:prstGeom prst="rect">
            <a:avLst/>
          </a:prstGeom>
          <a:ln w="0">
            <a:noFill/>
          </a:ln>
        </p:spPr>
      </p:sp>
      <p:sp>
        <p:nvSpPr>
          <p:cNvPr id="15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Thank you for your time. We are ready for questions on architecture decisions, validation evidence, and release controls.</a:t>
            </a:r>
            <a:endParaRPr lang="en-US" sz="2000" b="0" u="none" strike="noStrike">
              <a:solidFill>
                <a:srgbClr val="000000"/>
              </a:solidFill>
              <a:effectLst/>
              <a:uFillTx/>
              <a:latin typeface="Arial"/>
            </a:endParaRPr>
          </a:p>
        </p:txBody>
      </p:sp>
      <p:sp>
        <p:nvSpPr>
          <p:cNvPr id="151"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7CCD0D-7C8D-4AC5-8733-1B140250BBA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9D517AA-8DF0-44D9-9F8E-419873469A9A}"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F6A309D-BB4F-4010-8F87-9903810B52FA}"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CE07BD5-F76B-415F-B1C9-9D9EBFEB92CB}"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1F69AA2-F2E9-4EC8-BE2D-F85EB296F599}"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9F46DBD-8D49-4ECB-A94F-5EE76E62306B}"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0776145-623F-4DF4-A4F8-335040C9E1F8}"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9F5CC47-E6B6-4809-A5B0-158A80349DB8}"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863B277-2C7A-4F17-9149-5CCBCCA63541}"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1BE7DBC-1665-4862-8DC8-ED1DF6ED0D28}" type="slidenum">
              <a:rPr lang="en-US" sz="1200" b="0" u="none" strike="noStrike">
                <a:solidFill>
                  <a:schemeClr val="dk1">
                    <a:tint val="75000"/>
                  </a:schemeClr>
                </a:solidFill>
                <a:effectLst/>
                <a:uFillTx/>
                <a:latin typeface="Calibri"/>
              </a:rPr>
              <a:t>3</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597B4C1-DC6C-48BD-BF8D-5E2EB67BD14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34AE6EA-DD30-4049-B733-EB5681507A5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9.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Rectangle 1"/>
          <p:cNvSpPr/>
          <p:nvPr/>
        </p:nvSpPr>
        <p:spPr>
          <a:xfrm>
            <a:off x="0" y="0"/>
            <a:ext cx="12191400" cy="50256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Rectangle 2"/>
          <p:cNvSpPr/>
          <p:nvPr/>
        </p:nvSpPr>
        <p:spPr>
          <a:xfrm>
            <a:off x="0" y="6629400"/>
            <a:ext cx="12191400" cy="228240"/>
          </a:xfrm>
          <a:prstGeom prst="rect">
            <a:avLst/>
          </a:prstGeom>
          <a:solidFill>
            <a:srgbClr val="F2F2F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 name="TextBox 3"/>
          <p:cNvSpPr/>
          <p:nvPr/>
        </p:nvSpPr>
        <p:spPr>
          <a:xfrm>
            <a:off x="10241280" y="109800"/>
            <a:ext cx="1173960" cy="258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100" b="1" u="none" strike="noStrike">
                <a:solidFill>
                  <a:srgbClr val="FFFFFF"/>
                </a:solidFill>
                <a:effectLst/>
                <a:uFillTx/>
                <a:latin typeface="Calibri"/>
              </a:rPr>
              <a:t>Track A Capstone</a:t>
            </a:r>
            <a:endParaRPr lang="en-US" sz="1100" b="0" u="none" strike="noStrike">
              <a:solidFill>
                <a:srgbClr val="000000"/>
              </a:solidFill>
              <a:effectLst/>
              <a:uFillTx/>
              <a:latin typeface="Arial"/>
            </a:endParaRPr>
          </a:p>
        </p:txBody>
      </p:sp>
      <p:sp>
        <p:nvSpPr>
          <p:cNvPr id="70" name="Rectangle 4"/>
          <p:cNvSpPr/>
          <p:nvPr/>
        </p:nvSpPr>
        <p:spPr>
          <a:xfrm>
            <a:off x="0" y="502920"/>
            <a:ext cx="12191400" cy="61261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 name="TextBox 5"/>
          <p:cNvSpPr/>
          <p:nvPr/>
        </p:nvSpPr>
        <p:spPr>
          <a:xfrm>
            <a:off x="822960" y="1371600"/>
            <a:ext cx="5405760" cy="7304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4200" b="1" u="none" strike="noStrike">
                <a:solidFill>
                  <a:srgbClr val="6000A0"/>
                </a:solidFill>
                <a:effectLst/>
                <a:uFillTx/>
                <a:latin typeface="Calibri"/>
              </a:rPr>
              <a:t>Track A Capstone Demo</a:t>
            </a:r>
            <a:endParaRPr lang="en-US" sz="4200" b="0" u="none" strike="noStrike">
              <a:solidFill>
                <a:srgbClr val="000000"/>
              </a:solidFill>
              <a:effectLst/>
              <a:uFillTx/>
              <a:latin typeface="Arial"/>
            </a:endParaRPr>
          </a:p>
        </p:txBody>
      </p:sp>
      <p:sp>
        <p:nvSpPr>
          <p:cNvPr id="72" name="TextBox 6"/>
          <p:cNvSpPr/>
          <p:nvPr/>
        </p:nvSpPr>
        <p:spPr>
          <a:xfrm>
            <a:off x="822960" y="2468880"/>
            <a:ext cx="5592240" cy="456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400" b="0" u="none" strike="noStrike">
                <a:solidFill>
                  <a:srgbClr val="232323"/>
                </a:solidFill>
                <a:effectLst/>
                <a:uFillTx/>
                <a:latin typeface="Calibri"/>
              </a:rPr>
              <a:t>Procurement and Vendor Intelligence Agent</a:t>
            </a:r>
            <a:endParaRPr lang="en-US" sz="2400" b="0" u="none" strike="noStrike">
              <a:solidFill>
                <a:srgbClr val="000000"/>
              </a:solidFill>
              <a:effectLst/>
              <a:uFillTx/>
              <a:latin typeface="Arial"/>
            </a:endParaRPr>
          </a:p>
        </p:txBody>
      </p:sp>
      <p:sp>
        <p:nvSpPr>
          <p:cNvPr id="73" name="Rounded Rectangle 7"/>
          <p:cNvSpPr/>
          <p:nvPr/>
        </p:nvSpPr>
        <p:spPr>
          <a:xfrm>
            <a:off x="822960" y="3657600"/>
            <a:ext cx="5668920" cy="1828440"/>
          </a:xfrm>
          <a:prstGeom prst="roundRect">
            <a:avLst>
              <a:gd name="adj" fmla="val 16667"/>
            </a:avLst>
          </a:prstGeom>
          <a:solidFill>
            <a:srgbClr val="F2F2F2"/>
          </a:solidFill>
          <a:ln>
            <a:solidFill>
              <a:srgbClr val="D7D7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1" u="none" strike="noStrike">
                <a:solidFill>
                  <a:srgbClr val="000000"/>
                </a:solidFill>
                <a:effectLst/>
                <a:uFillTx/>
                <a:latin typeface="Calibri"/>
              </a:rPr>
              <a:t>Team</a:t>
            </a:r>
            <a:endParaRPr lang="en-US" sz="18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alibri"/>
              </a:rPr>
              <a:t>Vinod Kambar</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alibri"/>
              </a:rPr>
              <a:t>Mahesh Sanampudi</a:t>
            </a:r>
            <a:endParaRPr lang="en-US" sz="1600" b="0" u="none" strike="noStrike">
              <a:solidFill>
                <a:srgbClr val="000000"/>
              </a:solidFill>
              <a:effectLst/>
              <a:uFillTx/>
              <a:latin typeface="Arial"/>
            </a:endParaRPr>
          </a:p>
          <a:p>
            <a:pPr defTabSz="457200">
              <a:lnSpc>
                <a:spcPct val="100000"/>
              </a:lnSpc>
            </a:pPr>
            <a:r>
              <a:rPr lang="en-US" sz="1600" b="0" u="none" strike="noStrike">
                <a:solidFill>
                  <a:srgbClr val="000000"/>
                </a:solidFill>
                <a:effectLst/>
                <a:uFillTx/>
                <a:latin typeface="Calibri"/>
              </a:rPr>
              <a:t>Kalishabee Shaik</a:t>
            </a:r>
            <a:endParaRPr lang="en-US" sz="1600" b="0" u="none" strike="noStrike">
              <a:solidFill>
                <a:srgbClr val="000000"/>
              </a:solidFill>
              <a:effectLst/>
              <a:uFillTx/>
              <a:latin typeface="Arial"/>
            </a:endParaRPr>
          </a:p>
        </p:txBody>
      </p:sp>
      <p:sp>
        <p:nvSpPr>
          <p:cNvPr id="74" name="Isosceles Triangle 8"/>
          <p:cNvSpPr/>
          <p:nvPr/>
        </p:nvSpPr>
        <p:spPr>
          <a:xfrm>
            <a:off x="8869680" y="3200400"/>
            <a:ext cx="2285640" cy="2102760"/>
          </a:xfrm>
          <a:prstGeom prst="triangle">
            <a:avLst>
              <a:gd name="adj" fmla="val 50000"/>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Rectangle 1"/>
          <p:cNvSpPr/>
          <p:nvPr/>
        </p:nvSpPr>
        <p:spPr>
          <a:xfrm>
            <a:off x="0" y="0"/>
            <a:ext cx="12191400" cy="50256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6" name="Rectangle 2"/>
          <p:cNvSpPr/>
          <p:nvPr/>
        </p:nvSpPr>
        <p:spPr>
          <a:xfrm>
            <a:off x="0" y="6629400"/>
            <a:ext cx="12191400" cy="228240"/>
          </a:xfrm>
          <a:prstGeom prst="rect">
            <a:avLst/>
          </a:prstGeom>
          <a:solidFill>
            <a:srgbClr val="F2F2F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7" name="TextBox 3"/>
          <p:cNvSpPr/>
          <p:nvPr/>
        </p:nvSpPr>
        <p:spPr>
          <a:xfrm>
            <a:off x="10241280" y="109800"/>
            <a:ext cx="1173960" cy="258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100" b="1" u="none" strike="noStrike">
                <a:solidFill>
                  <a:srgbClr val="FFFFFF"/>
                </a:solidFill>
                <a:effectLst/>
                <a:uFillTx/>
                <a:latin typeface="Calibri"/>
              </a:rPr>
              <a:t>Track A Capstone</a:t>
            </a:r>
            <a:endParaRPr lang="en-US" sz="1100" b="0" u="none" strike="noStrike">
              <a:solidFill>
                <a:srgbClr val="000000"/>
              </a:solidFill>
              <a:effectLst/>
              <a:uFillTx/>
              <a:latin typeface="Arial"/>
            </a:endParaRPr>
          </a:p>
        </p:txBody>
      </p:sp>
      <p:sp>
        <p:nvSpPr>
          <p:cNvPr id="78" name="TextBox 4"/>
          <p:cNvSpPr/>
          <p:nvPr/>
        </p:nvSpPr>
        <p:spPr>
          <a:xfrm>
            <a:off x="548640" y="685800"/>
            <a:ext cx="5510880" cy="578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200" b="1" u="none" strike="noStrike">
                <a:solidFill>
                  <a:srgbClr val="232323"/>
                </a:solidFill>
                <a:effectLst/>
                <a:uFillTx/>
                <a:latin typeface="Calibri"/>
              </a:rPr>
              <a:t>Procurement Intelligence Agent</a:t>
            </a:r>
            <a:endParaRPr lang="en-US" sz="3200" b="0" u="none" strike="noStrike">
              <a:solidFill>
                <a:srgbClr val="000000"/>
              </a:solidFill>
              <a:effectLst/>
              <a:uFillTx/>
              <a:latin typeface="Arial"/>
            </a:endParaRPr>
          </a:p>
        </p:txBody>
      </p:sp>
      <p:sp>
        <p:nvSpPr>
          <p:cNvPr id="79" name="TextBox 5"/>
          <p:cNvSpPr/>
          <p:nvPr/>
        </p:nvSpPr>
        <p:spPr>
          <a:xfrm>
            <a:off x="548640" y="1234440"/>
            <a:ext cx="3536640" cy="3340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0" u="none" strike="noStrike">
                <a:solidFill>
                  <a:srgbClr val="5A5A5A"/>
                </a:solidFill>
                <a:effectLst/>
                <a:uFillTx/>
                <a:latin typeface="Calibri"/>
              </a:rPr>
              <a:t>Solution Overview and Business Problem</a:t>
            </a:r>
            <a:endParaRPr lang="en-US" sz="1600" b="0" u="none" strike="noStrike">
              <a:solidFill>
                <a:srgbClr val="000000"/>
              </a:solidFill>
              <a:effectLst/>
              <a:uFillTx/>
              <a:latin typeface="Arial"/>
            </a:endParaRPr>
          </a:p>
        </p:txBody>
      </p:sp>
      <p:sp>
        <p:nvSpPr>
          <p:cNvPr id="80" name="Rounded Rectangle 6"/>
          <p:cNvSpPr/>
          <p:nvPr/>
        </p:nvSpPr>
        <p:spPr>
          <a:xfrm>
            <a:off x="139680" y="1828440"/>
            <a:ext cx="5760360" cy="4480200"/>
          </a:xfrm>
          <a:prstGeom prst="roundRect">
            <a:avLst>
              <a:gd name="adj" fmla="val 16667"/>
            </a:avLst>
          </a:prstGeom>
          <a:solidFill>
            <a:srgbClr val="FFFFFF"/>
          </a:solidFill>
          <a:ln>
            <a:solidFill>
              <a:srgbClr val="D7D7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1" u="none" strike="noStrike">
                <a:solidFill>
                  <a:srgbClr val="232323"/>
                </a:solidFill>
                <a:effectLst/>
                <a:uFillTx/>
                <a:latin typeface="Calibri"/>
              </a:rPr>
              <a:t>Problem</a:t>
            </a:r>
            <a:r>
              <a:rPr lang="en-US" sz="1800" b="0" u="none" strike="noStrike">
                <a:solidFill>
                  <a:srgbClr val="232323"/>
                </a:solidFill>
                <a:effectLst/>
                <a:uFillTx/>
                <a:latin typeface="Calibri"/>
              </a:rPr>
              <a:t>: procurement teams process hundreds of requests weekly; routine triage steals time from complex, high-risk decisions.</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Pain point</a:t>
            </a:r>
            <a:r>
              <a:rPr lang="en-US" sz="1800" b="0" u="none" strike="noStrike">
                <a:solidFill>
                  <a:srgbClr val="232323"/>
                </a:solidFill>
                <a:effectLst/>
                <a:uFillTx/>
                <a:latin typeface="Calibri"/>
              </a:rPr>
              <a:t>: inconsistent manual checks across budget, vendor contract status, policy rules, and risk signals can delay approvals and increase compliance exposure.</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Solution:</a:t>
            </a:r>
            <a:r>
              <a:rPr lang="en-US" sz="1800" b="0" u="none" strike="noStrike">
                <a:solidFill>
                  <a:srgbClr val="232323"/>
                </a:solidFill>
                <a:effectLst/>
                <a:uFillTx/>
                <a:latin typeface="Calibri"/>
              </a:rPr>
              <a:t> advisory agent returns approve, deny, or escalate with explicit rationale tied to tool findings.</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Impact</a:t>
            </a:r>
            <a:r>
              <a:rPr lang="en-US" sz="1800" b="0" u="none" strike="noStrike">
                <a:solidFill>
                  <a:srgbClr val="232323"/>
                </a:solidFill>
                <a:effectLst/>
                <a:uFillTx/>
                <a:latin typeface="Calibri"/>
              </a:rPr>
              <a:t>: faster, more consistent pre-screening with auditable decision evidence for procurement officers.</a:t>
            </a: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232323"/>
                </a:solidFill>
                <a:effectLst/>
                <a:uFillTx/>
                <a:latin typeface="Calibri"/>
              </a:rPr>
              <a:t>Evidence source:</a:t>
            </a:r>
            <a:r>
              <a:rPr lang="en-US" sz="1800" b="0" u="none" strike="noStrike">
                <a:solidFill>
                  <a:srgbClr val="232323"/>
                </a:solidFill>
                <a:effectLst/>
                <a:uFillTx/>
                <a:latin typeface="Calibri"/>
              </a:rPr>
              <a:t> README scenario and acceptance criteria.</a:t>
            </a:r>
            <a:endParaRPr lang="en-US" sz="1800" b="0" u="none" strike="noStrike">
              <a:solidFill>
                <a:srgbClr val="000000"/>
              </a:solidFill>
              <a:effectLst/>
              <a:uFillTx/>
              <a:latin typeface="Arial"/>
            </a:endParaRPr>
          </a:p>
        </p:txBody>
      </p:sp>
      <p:sp>
        <p:nvSpPr>
          <p:cNvPr id="81" name="Rounded Rectangle 7"/>
          <p:cNvSpPr/>
          <p:nvPr/>
        </p:nvSpPr>
        <p:spPr>
          <a:xfrm>
            <a:off x="8074800" y="2098080"/>
            <a:ext cx="1919880" cy="566640"/>
          </a:xfrm>
          <a:prstGeom prst="roundRect">
            <a:avLst>
              <a:gd name="adj" fmla="val 16667"/>
            </a:avLst>
          </a:prstGeom>
          <a:solidFill>
            <a:srgbClr val="A606FC"/>
          </a:solidFill>
          <a:ln>
            <a:solidFill>
              <a:srgbClr val="3465A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PurchaseRequest</a:t>
            </a:r>
            <a:endParaRPr lang="en-US" sz="1800" b="0" u="none" strike="noStrike">
              <a:solidFill>
                <a:srgbClr val="FFFFFF"/>
              </a:solidFill>
              <a:effectLst/>
              <a:uFillTx/>
              <a:latin typeface="Arial"/>
            </a:endParaRPr>
          </a:p>
        </p:txBody>
      </p:sp>
      <p:sp>
        <p:nvSpPr>
          <p:cNvPr id="82" name="Rounded Rectangle 8"/>
          <p:cNvSpPr/>
          <p:nvPr/>
        </p:nvSpPr>
        <p:spPr>
          <a:xfrm>
            <a:off x="8074800" y="2875320"/>
            <a:ext cx="1919880" cy="566640"/>
          </a:xfrm>
          <a:prstGeom prst="roundRect">
            <a:avLst>
              <a:gd name="adj" fmla="val 16667"/>
            </a:avLst>
          </a:prstGeom>
          <a:solidFill>
            <a:srgbClr val="A606FC"/>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agent.py</a:t>
            </a:r>
            <a:endParaRPr lang="en-US" sz="1800" b="0" u="none" strike="noStrike">
              <a:solidFill>
                <a:srgbClr val="FFFFFF"/>
              </a:solidFill>
              <a:effectLst/>
              <a:uFillTx/>
              <a:latin typeface="Arial"/>
            </a:endParaRPr>
          </a:p>
        </p:txBody>
      </p:sp>
      <p:sp>
        <p:nvSpPr>
          <p:cNvPr id="83" name="Rounded Rectangle 9"/>
          <p:cNvSpPr/>
          <p:nvPr/>
        </p:nvSpPr>
        <p:spPr>
          <a:xfrm>
            <a:off x="5971680" y="3744000"/>
            <a:ext cx="1919880" cy="566640"/>
          </a:xfrm>
          <a:prstGeom prst="roundRect">
            <a:avLst>
              <a:gd name="adj" fmla="val 16667"/>
            </a:avLst>
          </a:prstGeom>
          <a:solidFill>
            <a:srgbClr val="A606FC"/>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tools/*</a:t>
            </a:r>
            <a:endParaRPr lang="en-US" sz="1800" b="0" u="none" strike="noStrike">
              <a:solidFill>
                <a:srgbClr val="FFFFFF"/>
              </a:solidFill>
              <a:effectLst/>
              <a:uFillTx/>
              <a:latin typeface="Arial"/>
            </a:endParaRPr>
          </a:p>
        </p:txBody>
      </p:sp>
      <p:sp>
        <p:nvSpPr>
          <p:cNvPr id="84" name="Rounded Rectangle 10"/>
          <p:cNvSpPr/>
          <p:nvPr/>
        </p:nvSpPr>
        <p:spPr>
          <a:xfrm>
            <a:off x="8074800" y="3744000"/>
            <a:ext cx="1919880" cy="566640"/>
          </a:xfrm>
          <a:prstGeom prst="roundRect">
            <a:avLst>
              <a:gd name="adj" fmla="val 16667"/>
            </a:avLst>
          </a:prstGeom>
          <a:solidFill>
            <a:srgbClr val="A606FC"/>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models.py</a:t>
            </a:r>
            <a:endParaRPr lang="en-US" sz="1800" b="0" u="none" strike="noStrike">
              <a:solidFill>
                <a:srgbClr val="FFFFFF"/>
              </a:solidFill>
              <a:effectLst/>
              <a:uFillTx/>
              <a:latin typeface="Arial"/>
            </a:endParaRPr>
          </a:p>
        </p:txBody>
      </p:sp>
      <p:sp>
        <p:nvSpPr>
          <p:cNvPr id="85" name="Rounded Rectangle 11"/>
          <p:cNvSpPr/>
          <p:nvPr/>
        </p:nvSpPr>
        <p:spPr>
          <a:xfrm>
            <a:off x="10177920" y="3744000"/>
            <a:ext cx="1919880" cy="566640"/>
          </a:xfrm>
          <a:prstGeom prst="roundRect">
            <a:avLst>
              <a:gd name="adj" fmla="val 16667"/>
            </a:avLst>
          </a:prstGeom>
          <a:solidFill>
            <a:srgbClr val="A606FC"/>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data/loader.py</a:t>
            </a:r>
            <a:endParaRPr lang="en-US" sz="1800" b="0" u="none" strike="noStrike">
              <a:solidFill>
                <a:srgbClr val="FFFFFF"/>
              </a:solidFill>
              <a:effectLst/>
              <a:uFillTx/>
              <a:latin typeface="Arial"/>
            </a:endParaRPr>
          </a:p>
        </p:txBody>
      </p:sp>
      <p:sp>
        <p:nvSpPr>
          <p:cNvPr id="86" name="Rounded Rectangle 12"/>
          <p:cNvSpPr/>
          <p:nvPr/>
        </p:nvSpPr>
        <p:spPr>
          <a:xfrm>
            <a:off x="8074800" y="4612680"/>
            <a:ext cx="1919880" cy="566640"/>
          </a:xfrm>
          <a:prstGeom prst="roundRect">
            <a:avLst>
              <a:gd name="adj" fmla="val 16667"/>
            </a:avLst>
          </a:prstGeom>
          <a:solidFill>
            <a:srgbClr val="A606FC"/>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Recommendation</a:t>
            </a:r>
            <a:endParaRPr lang="en-US" sz="1800" b="0" u="none" strike="noStrike">
              <a:solidFill>
                <a:srgbClr val="FFFFFF"/>
              </a:solidFill>
              <a:effectLst/>
              <a:uFillTx/>
              <a:latin typeface="Arial"/>
            </a:endParaRPr>
          </a:p>
        </p:txBody>
      </p:sp>
      <p:cxnSp>
        <p:nvCxnSpPr>
          <p:cNvPr id="87" name="Connector 13"/>
          <p:cNvCxnSpPr/>
          <p:nvPr/>
        </p:nvCxnSpPr>
        <p:spPr>
          <a:xfrm>
            <a:off x="9034920" y="2664720"/>
            <a:ext cx="360" cy="210960"/>
          </a:xfrm>
          <a:prstGeom prst="straightConnector1">
            <a:avLst/>
          </a:prstGeom>
          <a:ln>
            <a:solidFill>
              <a:srgbClr val="4F81BD"/>
            </a:solidFill>
            <a:round/>
          </a:ln>
        </p:spPr>
      </p:cxnSp>
      <p:cxnSp>
        <p:nvCxnSpPr>
          <p:cNvPr id="88" name="Connector 14"/>
          <p:cNvCxnSpPr/>
          <p:nvPr/>
        </p:nvCxnSpPr>
        <p:spPr>
          <a:xfrm flipH="1">
            <a:off x="6977520" y="3441960"/>
            <a:ext cx="2057760" cy="302400"/>
          </a:xfrm>
          <a:prstGeom prst="straightConnector1">
            <a:avLst/>
          </a:prstGeom>
          <a:ln>
            <a:solidFill>
              <a:srgbClr val="4F81BD"/>
            </a:solidFill>
            <a:round/>
          </a:ln>
        </p:spPr>
      </p:cxnSp>
      <p:cxnSp>
        <p:nvCxnSpPr>
          <p:cNvPr id="89" name="Connector 15"/>
          <p:cNvCxnSpPr/>
          <p:nvPr/>
        </p:nvCxnSpPr>
        <p:spPr>
          <a:xfrm>
            <a:off x="9034920" y="3441960"/>
            <a:ext cx="360" cy="302400"/>
          </a:xfrm>
          <a:prstGeom prst="straightConnector1">
            <a:avLst/>
          </a:prstGeom>
          <a:ln>
            <a:solidFill>
              <a:srgbClr val="4F81BD"/>
            </a:solidFill>
            <a:round/>
          </a:ln>
        </p:spPr>
      </p:cxnSp>
      <p:cxnSp>
        <p:nvCxnSpPr>
          <p:cNvPr id="90" name="Connector 16"/>
          <p:cNvCxnSpPr/>
          <p:nvPr/>
        </p:nvCxnSpPr>
        <p:spPr>
          <a:xfrm>
            <a:off x="9034920" y="3441960"/>
            <a:ext cx="2240640" cy="302400"/>
          </a:xfrm>
          <a:prstGeom prst="straightConnector1">
            <a:avLst/>
          </a:prstGeom>
          <a:ln>
            <a:solidFill>
              <a:srgbClr val="4F81BD"/>
            </a:solidFill>
            <a:round/>
          </a:ln>
        </p:spPr>
      </p:cxnSp>
      <p:cxnSp>
        <p:nvCxnSpPr>
          <p:cNvPr id="91" name="Connector 17"/>
          <p:cNvCxnSpPr/>
          <p:nvPr/>
        </p:nvCxnSpPr>
        <p:spPr>
          <a:xfrm>
            <a:off x="9034920" y="4310640"/>
            <a:ext cx="360" cy="302400"/>
          </a:xfrm>
          <a:prstGeom prst="straightConnector1">
            <a:avLst/>
          </a:prstGeom>
          <a:ln>
            <a:solidFill>
              <a:srgbClr val="4F81BD"/>
            </a:solidFill>
            <a:round/>
          </a:ln>
        </p:spPr>
      </p:cxn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Rectangle 1"/>
          <p:cNvSpPr/>
          <p:nvPr/>
        </p:nvSpPr>
        <p:spPr>
          <a:xfrm>
            <a:off x="0" y="0"/>
            <a:ext cx="12191400" cy="50256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3" name="Rectangle 2"/>
          <p:cNvSpPr/>
          <p:nvPr/>
        </p:nvSpPr>
        <p:spPr>
          <a:xfrm>
            <a:off x="0" y="6629400"/>
            <a:ext cx="12191400" cy="228240"/>
          </a:xfrm>
          <a:prstGeom prst="rect">
            <a:avLst/>
          </a:prstGeom>
          <a:solidFill>
            <a:srgbClr val="F2F2F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 name="TextBox 3"/>
          <p:cNvSpPr/>
          <p:nvPr/>
        </p:nvSpPr>
        <p:spPr>
          <a:xfrm>
            <a:off x="10241280" y="109800"/>
            <a:ext cx="1173960" cy="258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100" b="1" u="none" strike="noStrike">
                <a:solidFill>
                  <a:srgbClr val="FFFFFF"/>
                </a:solidFill>
                <a:effectLst/>
                <a:uFillTx/>
                <a:latin typeface="Calibri"/>
              </a:rPr>
              <a:t>Track A Capstone</a:t>
            </a:r>
            <a:endParaRPr lang="en-US" sz="1100" b="0" u="none" strike="noStrike">
              <a:solidFill>
                <a:srgbClr val="000000"/>
              </a:solidFill>
              <a:effectLst/>
              <a:uFillTx/>
              <a:latin typeface="Arial"/>
            </a:endParaRPr>
          </a:p>
        </p:txBody>
      </p:sp>
      <p:sp>
        <p:nvSpPr>
          <p:cNvPr id="95" name="TextBox 4"/>
          <p:cNvSpPr/>
          <p:nvPr/>
        </p:nvSpPr>
        <p:spPr>
          <a:xfrm>
            <a:off x="548640" y="685800"/>
            <a:ext cx="3690000" cy="578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200" b="1" u="none" strike="noStrike">
                <a:solidFill>
                  <a:srgbClr val="232323"/>
                </a:solidFill>
                <a:effectLst/>
                <a:uFillTx/>
                <a:latin typeface="Calibri"/>
              </a:rPr>
              <a:t>Spec-Driven Delivery</a:t>
            </a:r>
            <a:endParaRPr lang="en-US" sz="3200" b="0" u="none" strike="noStrike">
              <a:solidFill>
                <a:srgbClr val="000000"/>
              </a:solidFill>
              <a:effectLst/>
              <a:uFillTx/>
              <a:latin typeface="Arial"/>
            </a:endParaRPr>
          </a:p>
        </p:txBody>
      </p:sp>
      <p:sp>
        <p:nvSpPr>
          <p:cNvPr id="96" name="TextBox 5"/>
          <p:cNvSpPr/>
          <p:nvPr/>
        </p:nvSpPr>
        <p:spPr>
          <a:xfrm>
            <a:off x="548640" y="1234440"/>
            <a:ext cx="3154320" cy="3340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0" u="none" strike="noStrike">
                <a:solidFill>
                  <a:srgbClr val="5A5A5A"/>
                </a:solidFill>
                <a:effectLst/>
                <a:uFillTx/>
                <a:latin typeface="Calibri"/>
              </a:rPr>
              <a:t>OpenSpec workflow and traceability</a:t>
            </a:r>
            <a:endParaRPr lang="en-US" sz="1600" b="0" u="none" strike="noStrike">
              <a:solidFill>
                <a:srgbClr val="000000"/>
              </a:solidFill>
              <a:effectLst/>
              <a:uFillTx/>
              <a:latin typeface="Arial"/>
            </a:endParaRPr>
          </a:p>
        </p:txBody>
      </p:sp>
      <p:sp>
        <p:nvSpPr>
          <p:cNvPr id="97" name="Rounded Rectangle 6"/>
          <p:cNvSpPr/>
          <p:nvPr/>
        </p:nvSpPr>
        <p:spPr>
          <a:xfrm>
            <a:off x="548640" y="1737360"/>
            <a:ext cx="5760360" cy="4480200"/>
          </a:xfrm>
          <a:prstGeom prst="roundRect">
            <a:avLst>
              <a:gd name="adj" fmla="val 16667"/>
            </a:avLst>
          </a:prstGeom>
          <a:solidFill>
            <a:srgbClr val="FFFFFF"/>
          </a:solidFill>
          <a:ln>
            <a:solidFill>
              <a:srgbClr val="D7D7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0" u="none" strike="noStrike">
                <a:solidFill>
                  <a:srgbClr val="232323"/>
                </a:solidFill>
                <a:effectLst/>
                <a:uFillTx/>
                <a:latin typeface="Calibri"/>
              </a:rPr>
              <a:t>OpenSpec change directory guided build sequence and acceptance logic.</a:t>
            </a:r>
            <a:endParaRPr lang="en-US" sz="1800" b="0" u="none" strike="noStrike">
              <a:solidFill>
                <a:srgbClr val="000000"/>
              </a:solidFill>
              <a:effectLst/>
              <a:uFillTx/>
              <a:latin typeface="Arial"/>
            </a:endParaRPr>
          </a:p>
          <a:p>
            <a:pPr defTabSz="457200">
              <a:lnSpc>
                <a:spcPct val="100000"/>
              </a:lnSpc>
            </a:pPr>
            <a:r>
              <a:rPr lang="en-US" sz="1800" b="0" u="none" strike="noStrike">
                <a:solidFill>
                  <a:srgbClr val="232323"/>
                </a:solidFill>
                <a:effectLst/>
                <a:uFillTx/>
                <a:latin typeface="Calibri"/>
              </a:rPr>
              <a:t>Delta requirements: typed contracts, four-tool orchestration, precedence, error handling.</a:t>
            </a:r>
            <a:endParaRPr lang="en-US" sz="1800" b="0" u="none" strike="noStrike">
              <a:solidFill>
                <a:srgbClr val="000000"/>
              </a:solidFill>
              <a:effectLst/>
              <a:uFillTx/>
              <a:latin typeface="Arial"/>
            </a:endParaRPr>
          </a:p>
          <a:p>
            <a:pPr defTabSz="457200">
              <a:lnSpc>
                <a:spcPct val="100000"/>
              </a:lnSpc>
            </a:pPr>
            <a:r>
              <a:rPr lang="en-US" sz="1800" b="0" u="none" strike="noStrike">
                <a:solidFill>
                  <a:srgbClr val="232323"/>
                </a:solidFill>
                <a:effectLst/>
                <a:uFillTx/>
                <a:latin typeface="Calibri"/>
              </a:rPr>
              <a:t>tasks.md completed end-to-end across models, tools, tests, and validation.</a:t>
            </a:r>
            <a:endParaRPr lang="en-US" sz="1800" b="0" u="none" strike="noStrike">
              <a:solidFill>
                <a:srgbClr val="000000"/>
              </a:solidFill>
              <a:effectLst/>
              <a:uFillTx/>
              <a:latin typeface="Arial"/>
            </a:endParaRPr>
          </a:p>
          <a:p>
            <a:pPr defTabSz="457200">
              <a:lnSpc>
                <a:spcPct val="100000"/>
              </a:lnSpc>
            </a:pPr>
            <a:r>
              <a:rPr lang="en-US" sz="1800" b="0" u="none" strike="noStrike">
                <a:solidFill>
                  <a:srgbClr val="232323"/>
                </a:solidFill>
                <a:effectLst/>
                <a:uFillTx/>
                <a:latin typeface="Calibri"/>
              </a:rPr>
              <a:t>Controlled flow: propose -&gt; implement -&gt; test -&gt; validate -&gt; release artifacts.</a:t>
            </a:r>
            <a:endParaRPr lang="en-US" sz="1800" b="0" u="none" strike="noStrike">
              <a:solidFill>
                <a:srgbClr val="000000"/>
              </a:solidFill>
              <a:effectLst/>
              <a:uFillTx/>
              <a:latin typeface="Arial"/>
            </a:endParaRPr>
          </a:p>
        </p:txBody>
      </p:sp>
      <p:graphicFrame>
        <p:nvGraphicFramePr>
          <p:cNvPr id="98" name="Table 7"/>
          <p:cNvGraphicFramePr/>
          <p:nvPr/>
        </p:nvGraphicFramePr>
        <p:xfrm>
          <a:off x="6720840" y="1828800"/>
          <a:ext cx="4937400" cy="3077640"/>
        </p:xfrm>
        <a:graphic>
          <a:graphicData uri="http://schemas.openxmlformats.org/drawingml/2006/table">
            <a:tbl>
              <a:tblPr/>
              <a:tblGrid>
                <a:gridCol w="2468880"/>
                <a:gridCol w="2468880"/>
              </a:tblGrid>
              <a:tr h="487440">
                <a:tc>
                  <a:txBody>
                    <a:bodyPr anchor="t">
                      <a:noAutofit/>
                    </a:bodyPr>
                    <a:p>
                      <a:pPr defTabSz="457200">
                        <a:lnSpc>
                          <a:spcPct val="100000"/>
                        </a:lnSpc>
                      </a:pPr>
                      <a:r>
                        <a:rPr lang="en-US" sz="1800" b="0" u="none" strike="noStrike">
                          <a:solidFill>
                            <a:srgbClr val="FFFFFF"/>
                          </a:solidFill>
                          <a:effectLst/>
                          <a:uFillTx/>
                          <a:latin typeface="Calibri"/>
                        </a:rPr>
                        <a:t>Evidence</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457200">
                        <a:lnSpc>
                          <a:spcPct val="100000"/>
                        </a:lnSpc>
                      </a:pPr>
                      <a:r>
                        <a:rPr lang="en-US" sz="1800" b="0" u="none" strike="noStrike">
                          <a:solidFill>
                            <a:srgbClr val="FFFFFF"/>
                          </a:solidFill>
                          <a:effectLst/>
                          <a:uFillTx/>
                          <a:latin typeface="Calibri"/>
                        </a:rPr>
                        <a:t>Status</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r>
              <a:tr h="487440">
                <a:tc>
                  <a:txBody>
                    <a:bodyPr anchor="t">
                      <a:noAutofit/>
                    </a:bodyPr>
                    <a:p>
                      <a:pPr defTabSz="457200">
                        <a:lnSpc>
                          <a:spcPct val="100000"/>
                        </a:lnSpc>
                      </a:pPr>
                      <a:r>
                        <a:rPr lang="en-US" sz="1800" b="0" u="none" strike="noStrike">
                          <a:solidFill>
                            <a:srgbClr val="000000"/>
                          </a:solidFill>
                          <a:effectLst/>
                          <a:uFillTx/>
                          <a:latin typeface="Calibri"/>
                        </a:rPr>
                        <a:t>OpenSpec change/specs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800" b="0" u="none" strike="noStrike">
                          <a:solidFill>
                            <a:srgbClr val="000000"/>
                          </a:solidFill>
                          <a:effectLst/>
                          <a:uFillTx/>
                          <a:latin typeface="Calibri"/>
                        </a:rPr>
                        <a:t>Present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487440">
                <a:tc>
                  <a:txBody>
                    <a:bodyPr anchor="t">
                      <a:noAutofit/>
                    </a:bodyPr>
                    <a:p>
                      <a:pPr defTabSz="457200">
                        <a:lnSpc>
                          <a:spcPct val="100000"/>
                        </a:lnSpc>
                      </a:pPr>
                      <a:r>
                        <a:rPr lang="en-US" sz="1800" b="0" u="none" strike="noStrike">
                          <a:solidFill>
                            <a:srgbClr val="000000"/>
                          </a:solidFill>
                          <a:effectLst/>
                          <a:uFillTx/>
                          <a:latin typeface="Calibri"/>
                        </a:rPr>
                        <a:t>tasks.md</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800" b="0" u="none" strike="noStrike">
                          <a:solidFill>
                            <a:srgbClr val="000000"/>
                          </a:solidFill>
                          <a:effectLst/>
                          <a:uFillTx/>
                          <a:latin typeface="Calibri"/>
                        </a:rPr>
                        <a:t>All checked</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87440">
                <a:tc>
                  <a:txBody>
                    <a:bodyPr anchor="t">
                      <a:noAutofit/>
                    </a:bodyPr>
                    <a:p>
                      <a:pPr defTabSz="457200">
                        <a:lnSpc>
                          <a:spcPct val="100000"/>
                        </a:lnSpc>
                      </a:pPr>
                      <a:r>
                        <a:rPr lang="en-US" sz="1800" b="0" u="none" strike="noStrike">
                          <a:solidFill>
                            <a:srgbClr val="000000"/>
                          </a:solidFill>
                          <a:effectLst/>
                          <a:uFillTx/>
                          <a:latin typeface="Calibri"/>
                        </a:rPr>
                        <a:t>Validation</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800" b="0" u="none" strike="noStrike">
                          <a:solidFill>
                            <a:srgbClr val="000000"/>
                          </a:solidFill>
                          <a:effectLst/>
                          <a:uFillTx/>
                          <a:latin typeface="Calibri"/>
                        </a:rPr>
                        <a:t>1 passed, 0 failed</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487440">
                <a:tc>
                  <a:txBody>
                    <a:bodyPr anchor="t">
                      <a:noAutofit/>
                    </a:bodyPr>
                    <a:p>
                      <a:pPr defTabSz="457200">
                        <a:lnSpc>
                          <a:spcPct val="100000"/>
                        </a:lnSpc>
                      </a:pPr>
                      <a:r>
                        <a:rPr lang="en-US" sz="1800" b="0" u="none" strike="noStrike">
                          <a:solidFill>
                            <a:srgbClr val="000000"/>
                          </a:solidFill>
                          <a:effectLst/>
                          <a:uFillTx/>
                          <a:latin typeface="Calibri"/>
                        </a:rPr>
                        <a:t>Decision rule</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lang="en-US" sz="1800" b="0" u="none" strike="noStrike">
                          <a:solidFill>
                            <a:srgbClr val="000000"/>
                          </a:solidFill>
                          <a:effectLst/>
                          <a:uFillTx/>
                          <a:latin typeface="Calibri"/>
                        </a:rPr>
                        <a:t>escalate &gt; deny &gt; approve</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487440">
                <a:tc>
                  <a:txBody>
                    <a:bodyPr anchor="t">
                      <a:noAutofit/>
                    </a:bodyPr>
                    <a:p>
                      <a:pPr defTabSz="457200">
                        <a:lnSpc>
                          <a:spcPct val="100000"/>
                        </a:lnSpc>
                      </a:pPr>
                      <a:r>
                        <a:rPr lang="en-US" sz="1800" b="0" u="none" strike="noStrike">
                          <a:solidFill>
                            <a:srgbClr val="000000"/>
                          </a:solidFill>
                          <a:effectLst/>
                          <a:uFillTx/>
                          <a:latin typeface="Calibri"/>
                        </a:rPr>
                        <a:t>Traceability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800" b="0" u="none" strike="noStrike">
                          <a:solidFill>
                            <a:srgbClr val="000000"/>
                          </a:solidFill>
                          <a:effectLst/>
                          <a:uFillTx/>
                          <a:latin typeface="Calibri"/>
                        </a:rPr>
                        <a:t>requirements -&gt; tests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bl>
          </a:graphicData>
        </a:graphic>
      </p:graphicFrame>
      <p:sp>
        <p:nvSpPr>
          <p:cNvPr id="99" name="Chevron 8"/>
          <p:cNvSpPr/>
          <p:nvPr/>
        </p:nvSpPr>
        <p:spPr>
          <a:xfrm>
            <a:off x="6720840" y="4983480"/>
            <a:ext cx="1508400" cy="594000"/>
          </a:xfrm>
          <a:prstGeom prst="chevron">
            <a:avLst>
              <a:gd name="adj" fmla="val 50000"/>
            </a:avLst>
          </a:prstGeom>
          <a:solidFill>
            <a:srgbClr val="A000F0"/>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Spec</a:t>
            </a:r>
            <a:endParaRPr lang="en-US" sz="1800" b="0" u="none" strike="noStrike">
              <a:solidFill>
                <a:srgbClr val="FFFFFF"/>
              </a:solidFill>
              <a:effectLst/>
              <a:uFillTx/>
              <a:latin typeface="Arial"/>
            </a:endParaRPr>
          </a:p>
        </p:txBody>
      </p:sp>
      <p:sp>
        <p:nvSpPr>
          <p:cNvPr id="100" name="Chevron 9"/>
          <p:cNvSpPr/>
          <p:nvPr/>
        </p:nvSpPr>
        <p:spPr>
          <a:xfrm>
            <a:off x="8366760" y="4983480"/>
            <a:ext cx="1508400" cy="594000"/>
          </a:xfrm>
          <a:prstGeom prst="chevron">
            <a:avLst>
              <a:gd name="adj" fmla="val 50000"/>
            </a:avLst>
          </a:prstGeom>
          <a:solidFill>
            <a:srgbClr val="A000F0"/>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Build</a:t>
            </a:r>
            <a:endParaRPr lang="en-US" sz="1800" b="0" u="none" strike="noStrike">
              <a:solidFill>
                <a:srgbClr val="FFFFFF"/>
              </a:solidFill>
              <a:effectLst/>
              <a:uFillTx/>
              <a:latin typeface="Arial"/>
            </a:endParaRPr>
          </a:p>
        </p:txBody>
      </p:sp>
      <p:sp>
        <p:nvSpPr>
          <p:cNvPr id="101" name="Chevron 10"/>
          <p:cNvSpPr/>
          <p:nvPr/>
        </p:nvSpPr>
        <p:spPr>
          <a:xfrm>
            <a:off x="10012680" y="4983480"/>
            <a:ext cx="1508400" cy="594000"/>
          </a:xfrm>
          <a:prstGeom prst="chevron">
            <a:avLst>
              <a:gd name="adj" fmla="val 50000"/>
            </a:avLst>
          </a:prstGeom>
          <a:solidFill>
            <a:srgbClr val="A000F0"/>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defTabSz="457200">
              <a:lnSpc>
                <a:spcPct val="100000"/>
              </a:lnSpc>
            </a:pPr>
            <a:r>
              <a:rPr lang="en-US" sz="1800" b="0" u="none" strike="noStrike">
                <a:solidFill>
                  <a:srgbClr val="FFFFFF"/>
                </a:solidFill>
                <a:effectLst/>
                <a:uFillTx/>
                <a:latin typeface="Calibri"/>
              </a:rPr>
              <a:t>Verify</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Rectangle 1"/>
          <p:cNvSpPr/>
          <p:nvPr/>
        </p:nvSpPr>
        <p:spPr>
          <a:xfrm>
            <a:off x="0" y="0"/>
            <a:ext cx="12191400" cy="50256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 name="Rectangle 2"/>
          <p:cNvSpPr/>
          <p:nvPr/>
        </p:nvSpPr>
        <p:spPr>
          <a:xfrm>
            <a:off x="0" y="6629400"/>
            <a:ext cx="12191400" cy="228240"/>
          </a:xfrm>
          <a:prstGeom prst="rect">
            <a:avLst/>
          </a:prstGeom>
          <a:solidFill>
            <a:srgbClr val="F2F2F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4" name="TextBox 3"/>
          <p:cNvSpPr/>
          <p:nvPr/>
        </p:nvSpPr>
        <p:spPr>
          <a:xfrm>
            <a:off x="10241280" y="109800"/>
            <a:ext cx="1173960" cy="258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100" b="1" u="none" strike="noStrike">
                <a:solidFill>
                  <a:srgbClr val="FFFFFF"/>
                </a:solidFill>
                <a:effectLst/>
                <a:uFillTx/>
                <a:latin typeface="Calibri"/>
              </a:rPr>
              <a:t>Track A Capstone</a:t>
            </a:r>
            <a:endParaRPr lang="en-US" sz="1100" b="0" u="none" strike="noStrike">
              <a:solidFill>
                <a:srgbClr val="000000"/>
              </a:solidFill>
              <a:effectLst/>
              <a:uFillTx/>
              <a:latin typeface="Arial"/>
            </a:endParaRPr>
          </a:p>
        </p:txBody>
      </p:sp>
      <p:sp>
        <p:nvSpPr>
          <p:cNvPr id="105" name="TextBox 4"/>
          <p:cNvSpPr/>
          <p:nvPr/>
        </p:nvSpPr>
        <p:spPr>
          <a:xfrm>
            <a:off x="548640" y="685800"/>
            <a:ext cx="3944160" cy="578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200" b="1" u="none" strike="noStrike">
                <a:solidFill>
                  <a:srgbClr val="232323"/>
                </a:solidFill>
                <a:effectLst/>
                <a:uFillTx/>
                <a:latin typeface="Calibri"/>
              </a:rPr>
              <a:t>Validation and Quality</a:t>
            </a:r>
            <a:endParaRPr lang="en-US" sz="3200" b="0" u="none" strike="noStrike">
              <a:solidFill>
                <a:srgbClr val="000000"/>
              </a:solidFill>
              <a:effectLst/>
              <a:uFillTx/>
              <a:latin typeface="Arial"/>
            </a:endParaRPr>
          </a:p>
        </p:txBody>
      </p:sp>
      <p:sp>
        <p:nvSpPr>
          <p:cNvPr id="106" name="TextBox 5"/>
          <p:cNvSpPr/>
          <p:nvPr/>
        </p:nvSpPr>
        <p:spPr>
          <a:xfrm>
            <a:off x="548640" y="1234440"/>
            <a:ext cx="3699000" cy="3340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0" u="none" strike="noStrike">
                <a:solidFill>
                  <a:srgbClr val="5A5A5A"/>
                </a:solidFill>
                <a:effectLst/>
                <a:uFillTx/>
                <a:latin typeface="Calibri"/>
              </a:rPr>
              <a:t>Test, peer review, and integration evidence</a:t>
            </a:r>
            <a:endParaRPr lang="en-US" sz="1600" b="0" u="none" strike="noStrike">
              <a:solidFill>
                <a:srgbClr val="000000"/>
              </a:solidFill>
              <a:effectLst/>
              <a:uFillTx/>
              <a:latin typeface="Arial"/>
            </a:endParaRPr>
          </a:p>
        </p:txBody>
      </p:sp>
      <p:sp>
        <p:nvSpPr>
          <p:cNvPr id="107" name="Rounded Rectangle 6"/>
          <p:cNvSpPr/>
          <p:nvPr/>
        </p:nvSpPr>
        <p:spPr>
          <a:xfrm>
            <a:off x="548640" y="1737360"/>
            <a:ext cx="5760360" cy="4480200"/>
          </a:xfrm>
          <a:prstGeom prst="roundRect">
            <a:avLst>
              <a:gd name="adj" fmla="val 16667"/>
            </a:avLst>
          </a:prstGeom>
          <a:solidFill>
            <a:srgbClr val="FFFFFF"/>
          </a:solidFill>
          <a:ln>
            <a:solidFill>
              <a:srgbClr val="D7D7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0" u="none" strike="noStrike">
                <a:solidFill>
                  <a:srgbClr val="232323"/>
                </a:solidFill>
                <a:effectLst/>
                <a:uFillTx/>
                <a:latin typeface="Calibri"/>
              </a:rPr>
              <a:t>pytest: 37 passed, 0 failed, 1 warning.</a:t>
            </a:r>
            <a:endParaRPr lang="en-US" sz="1800" b="0" u="none" strike="noStrike">
              <a:solidFill>
                <a:srgbClr val="000000"/>
              </a:solidFill>
              <a:effectLst/>
              <a:uFillTx/>
              <a:latin typeface="Arial"/>
            </a:endParaRPr>
          </a:p>
          <a:p>
            <a:pPr defTabSz="457200">
              <a:lnSpc>
                <a:spcPct val="100000"/>
              </a:lnSpc>
            </a:pPr>
            <a:r>
              <a:rPr lang="en-US" sz="1800" b="0" u="none" strike="noStrike">
                <a:solidFill>
                  <a:srgbClr val="232323"/>
                </a:solidFill>
                <a:effectLst/>
                <a:uFillTx/>
                <a:latin typeface="Calibri"/>
              </a:rPr>
              <a:t>Peer review: Conditional Pass; required action formally addressed.</a:t>
            </a:r>
            <a:endParaRPr lang="en-US" sz="1800" b="0" u="none" strike="noStrike">
              <a:solidFill>
                <a:srgbClr val="000000"/>
              </a:solidFill>
              <a:effectLst/>
              <a:uFillTx/>
              <a:latin typeface="Arial"/>
            </a:endParaRPr>
          </a:p>
          <a:p>
            <a:pPr defTabSz="457200">
              <a:lnSpc>
                <a:spcPct val="100000"/>
              </a:lnSpc>
            </a:pPr>
            <a:r>
              <a:rPr lang="en-US" sz="1800" b="0" u="none" strike="noStrike">
                <a:solidFill>
                  <a:srgbClr val="232323"/>
                </a:solidFill>
                <a:effectLst/>
                <a:uFillTx/>
                <a:latin typeface="Calibri"/>
              </a:rPr>
              <a:t>OpenSpec validation: 1 passed, 0 failed.</a:t>
            </a:r>
            <a:endParaRPr lang="en-US" sz="1800" b="0" u="none" strike="noStrike">
              <a:solidFill>
                <a:srgbClr val="000000"/>
              </a:solidFill>
              <a:effectLst/>
              <a:uFillTx/>
              <a:latin typeface="Arial"/>
            </a:endParaRPr>
          </a:p>
          <a:p>
            <a:pPr defTabSz="457200">
              <a:lnSpc>
                <a:spcPct val="100000"/>
              </a:lnSpc>
            </a:pPr>
            <a:r>
              <a:rPr lang="en-US" sz="1800" b="0" u="none" strike="noStrike">
                <a:solidFill>
                  <a:srgbClr val="232323"/>
                </a:solidFill>
                <a:effectLst/>
                <a:uFillTx/>
                <a:latin typeface="Calibri"/>
              </a:rPr>
              <a:t>Deterministic run: approve=7, deny=4, escalate=4.</a:t>
            </a:r>
            <a:endParaRPr lang="en-US" sz="1800" b="0" u="none" strike="noStrike">
              <a:solidFill>
                <a:srgbClr val="000000"/>
              </a:solidFill>
              <a:effectLst/>
              <a:uFillTx/>
              <a:latin typeface="Arial"/>
            </a:endParaRPr>
          </a:p>
          <a:p>
            <a:pPr defTabSz="457200">
              <a:lnSpc>
                <a:spcPct val="100000"/>
              </a:lnSpc>
            </a:pPr>
            <a:r>
              <a:rPr lang="en-US" sz="1800" b="0" u="none" strike="noStrike">
                <a:solidFill>
                  <a:srgbClr val="232323"/>
                </a:solidFill>
                <a:effectLst/>
                <a:uFillTx/>
                <a:latin typeface="Calibri"/>
              </a:rPr>
              <a:t>REQ-001..REQ-014 mismatches=0; REQ-015 is intentionally ambiguous.</a:t>
            </a:r>
            <a:endParaRPr lang="en-US" sz="1800" b="0" u="none" strike="noStrike">
              <a:solidFill>
                <a:srgbClr val="000000"/>
              </a:solidFill>
              <a:effectLst/>
              <a:uFillTx/>
              <a:latin typeface="Arial"/>
            </a:endParaRPr>
          </a:p>
        </p:txBody>
      </p:sp>
      <p:graphicFrame>
        <p:nvGraphicFramePr>
          <p:cNvPr id="108" name="Chart 7"/>
          <p:cNvGraphicFramePr/>
          <p:nvPr/>
        </p:nvGraphicFramePr>
        <p:xfrm>
          <a:off x="6720840" y="1828800"/>
          <a:ext cx="4891680" cy="3565800"/>
        </p:xfrm>
        <a:graphic>
          <a:graphicData uri="http://schemas.openxmlformats.org/drawingml/2006/chart">
            <c:chart xmlns:c="http://schemas.openxmlformats.org/drawingml/2006/chart" xmlns:r="http://schemas.openxmlformats.org/officeDocument/2006/relationships" r:id="rId1"/>
          </a:graphicData>
        </a:graphic>
      </p:graphicFrame>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Rectangle 1"/>
          <p:cNvSpPr/>
          <p:nvPr/>
        </p:nvSpPr>
        <p:spPr>
          <a:xfrm>
            <a:off x="0" y="0"/>
            <a:ext cx="12191400" cy="50256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0" name="Rectangle 2"/>
          <p:cNvSpPr/>
          <p:nvPr/>
        </p:nvSpPr>
        <p:spPr>
          <a:xfrm>
            <a:off x="0" y="6629400"/>
            <a:ext cx="12191400" cy="228240"/>
          </a:xfrm>
          <a:prstGeom prst="rect">
            <a:avLst/>
          </a:prstGeom>
          <a:solidFill>
            <a:srgbClr val="F2F2F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 name="TextBox 3"/>
          <p:cNvSpPr/>
          <p:nvPr/>
        </p:nvSpPr>
        <p:spPr>
          <a:xfrm>
            <a:off x="10241280" y="109800"/>
            <a:ext cx="1173960" cy="258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100" b="1" u="none" strike="noStrike">
                <a:solidFill>
                  <a:srgbClr val="FFFFFF"/>
                </a:solidFill>
                <a:effectLst/>
                <a:uFillTx/>
                <a:latin typeface="Calibri"/>
              </a:rPr>
              <a:t>Track A Capstone</a:t>
            </a:r>
            <a:endParaRPr lang="en-US" sz="1100" b="0" u="none" strike="noStrike">
              <a:solidFill>
                <a:srgbClr val="000000"/>
              </a:solidFill>
              <a:effectLst/>
              <a:uFillTx/>
              <a:latin typeface="Arial"/>
            </a:endParaRPr>
          </a:p>
        </p:txBody>
      </p:sp>
      <p:sp>
        <p:nvSpPr>
          <p:cNvPr id="112" name="TextBox 4"/>
          <p:cNvSpPr/>
          <p:nvPr/>
        </p:nvSpPr>
        <p:spPr>
          <a:xfrm>
            <a:off x="548640" y="685800"/>
            <a:ext cx="6312600" cy="578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200" b="1" u="none" strike="noStrike">
                <a:solidFill>
                  <a:srgbClr val="232323"/>
                </a:solidFill>
                <a:effectLst/>
                <a:uFillTx/>
                <a:latin typeface="Calibri"/>
              </a:rPr>
              <a:t>Git Discipline and Release Readiness</a:t>
            </a:r>
            <a:endParaRPr lang="en-US" sz="3200" b="0" u="none" strike="noStrike">
              <a:solidFill>
                <a:srgbClr val="000000"/>
              </a:solidFill>
              <a:effectLst/>
              <a:uFillTx/>
              <a:latin typeface="Arial"/>
            </a:endParaRPr>
          </a:p>
        </p:txBody>
      </p:sp>
      <p:sp>
        <p:nvSpPr>
          <p:cNvPr id="113" name="TextBox 5"/>
          <p:cNvSpPr/>
          <p:nvPr/>
        </p:nvSpPr>
        <p:spPr>
          <a:xfrm>
            <a:off x="548640" y="1234440"/>
            <a:ext cx="4185000" cy="33408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0" u="none" strike="noStrike">
                <a:solidFill>
                  <a:srgbClr val="5A5A5A"/>
                </a:solidFill>
                <a:effectLst/>
                <a:uFillTx/>
                <a:latin typeface="Calibri"/>
              </a:rPr>
              <a:t>RAPID artifacts, decision gate, and demo posture</a:t>
            </a:r>
            <a:endParaRPr lang="en-US" sz="1600" b="0" u="none" strike="noStrike">
              <a:solidFill>
                <a:srgbClr val="000000"/>
              </a:solidFill>
              <a:effectLst/>
              <a:uFillTx/>
              <a:latin typeface="Arial"/>
            </a:endParaRPr>
          </a:p>
        </p:txBody>
      </p:sp>
      <p:sp>
        <p:nvSpPr>
          <p:cNvPr id="114" name="Rounded Rectangle 6"/>
          <p:cNvSpPr/>
          <p:nvPr/>
        </p:nvSpPr>
        <p:spPr>
          <a:xfrm>
            <a:off x="548640" y="1737360"/>
            <a:ext cx="5760360" cy="4480200"/>
          </a:xfrm>
          <a:prstGeom prst="roundRect">
            <a:avLst>
              <a:gd name="adj" fmla="val 16667"/>
            </a:avLst>
          </a:prstGeom>
          <a:solidFill>
            <a:srgbClr val="FFFFFF"/>
          </a:solidFill>
          <a:ln>
            <a:solidFill>
              <a:srgbClr val="D7D7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800" b="0" u="none" strike="noStrike">
                <a:solidFill>
                  <a:srgbClr val="232323"/>
                </a:solidFill>
                <a:effectLst/>
                <a:uFillTx/>
                <a:latin typeface="Calibri"/>
              </a:rPr>
              <a:t>Commit hygiene: user-story prefix [US-005] across implementation and control artifacts.</a:t>
            </a:r>
            <a:endParaRPr lang="en-US" sz="1800" b="0" u="none" strike="noStrike">
              <a:solidFill>
                <a:srgbClr val="000000"/>
              </a:solidFill>
              <a:effectLst/>
              <a:uFillTx/>
              <a:latin typeface="Arial"/>
            </a:endParaRPr>
          </a:p>
          <a:p>
            <a:pPr defTabSz="457200">
              <a:lnSpc>
                <a:spcPct val="100000"/>
              </a:lnSpc>
            </a:pPr>
            <a:r>
              <a:rPr lang="en-US" sz="1800" b="0" u="none" strike="noStrike">
                <a:solidFill>
                  <a:srgbClr val="232323"/>
                </a:solidFill>
                <a:effectLst/>
                <a:uFillTx/>
                <a:latin typeface="Calibri"/>
              </a:rPr>
              <a:t>Compliance package complete: peer review, test record, go/no-go checklist, backout plan.</a:t>
            </a:r>
            <a:endParaRPr lang="en-US" sz="1800" b="0" u="none" strike="noStrike">
              <a:solidFill>
                <a:srgbClr val="000000"/>
              </a:solidFill>
              <a:effectLst/>
              <a:uFillTx/>
              <a:latin typeface="Arial"/>
            </a:endParaRPr>
          </a:p>
          <a:p>
            <a:pPr defTabSz="457200">
              <a:lnSpc>
                <a:spcPct val="100000"/>
              </a:lnSpc>
            </a:pPr>
            <a:r>
              <a:rPr lang="en-US" sz="1800" b="0" u="none" strike="noStrike">
                <a:solidFill>
                  <a:srgbClr val="232323"/>
                </a:solidFill>
                <a:effectLst/>
                <a:uFillTx/>
                <a:latin typeface="Calibri"/>
              </a:rPr>
              <a:t>Go decision recorded with evidence-backed rationale and rollback estimate.</a:t>
            </a:r>
            <a:endParaRPr lang="en-US" sz="1800" b="0" u="none" strike="noStrike">
              <a:solidFill>
                <a:srgbClr val="000000"/>
              </a:solidFill>
              <a:effectLst/>
              <a:uFillTx/>
              <a:latin typeface="Arial"/>
            </a:endParaRPr>
          </a:p>
          <a:p>
            <a:pPr defTabSz="457200">
              <a:lnSpc>
                <a:spcPct val="100000"/>
              </a:lnSpc>
            </a:pPr>
            <a:r>
              <a:rPr lang="en-US" sz="1800" b="0" u="none" strike="noStrike">
                <a:solidFill>
                  <a:srgbClr val="232323"/>
                </a:solidFill>
                <a:effectLst/>
                <a:uFillTx/>
                <a:latin typeface="Calibri"/>
              </a:rPr>
              <a:t>Demo-ready status: validated agent behavior and governance controls in place.</a:t>
            </a:r>
            <a:endParaRPr lang="en-US" sz="1800" b="0" u="none" strike="noStrike">
              <a:solidFill>
                <a:srgbClr val="000000"/>
              </a:solidFill>
              <a:effectLst/>
              <a:uFillTx/>
              <a:latin typeface="Arial"/>
            </a:endParaRPr>
          </a:p>
          <a:p>
            <a:pPr defTabSz="457200">
              <a:lnSpc>
                <a:spcPct val="100000"/>
              </a:lnSpc>
            </a:pPr>
            <a:r>
              <a:rPr lang="en-US" sz="1800" b="0" u="none" strike="noStrike">
                <a:solidFill>
                  <a:srgbClr val="232323"/>
                </a:solidFill>
                <a:effectLst/>
                <a:uFillTx/>
                <a:latin typeface="Calibri"/>
              </a:rPr>
              <a:t>Missing evidence callout: README references prompts.md; repo stores prompts in .github/prompts.</a:t>
            </a:r>
            <a:endParaRPr lang="en-US" sz="1800" b="0" u="none" strike="noStrike">
              <a:solidFill>
                <a:srgbClr val="000000"/>
              </a:solidFill>
              <a:effectLst/>
              <a:uFillTx/>
              <a:latin typeface="Arial"/>
            </a:endParaRPr>
          </a:p>
        </p:txBody>
      </p:sp>
      <p:sp>
        <p:nvSpPr>
          <p:cNvPr id="115" name="Rounded Rectangle 7"/>
          <p:cNvSpPr/>
          <p:nvPr/>
        </p:nvSpPr>
        <p:spPr>
          <a:xfrm>
            <a:off x="6720840" y="1828800"/>
            <a:ext cx="4891680" cy="3565800"/>
          </a:xfrm>
          <a:prstGeom prst="roundRect">
            <a:avLst>
              <a:gd name="adj" fmla="val 16667"/>
            </a:avLst>
          </a:prstGeom>
          <a:solidFill>
            <a:srgbClr val="FFFFFF"/>
          </a:solidFill>
          <a:ln>
            <a:solidFill>
              <a:srgbClr val="D7D7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6" name="Oval 8"/>
          <p:cNvSpPr/>
          <p:nvPr/>
        </p:nvSpPr>
        <p:spPr>
          <a:xfrm>
            <a:off x="6949440" y="2057400"/>
            <a:ext cx="109440" cy="109440"/>
          </a:xfrm>
          <a:prstGeom prst="ellipse">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p>
            <a:endParaRPr lang="en-US" sz="1800" b="0" u="none" strike="noStrike">
              <a:solidFill>
                <a:schemeClr val="lt1"/>
              </a:solidFill>
              <a:effectLst/>
              <a:uFillTx/>
              <a:latin typeface="Calibri"/>
            </a:endParaRPr>
          </a:p>
        </p:txBody>
      </p:sp>
      <p:sp>
        <p:nvSpPr>
          <p:cNvPr id="117" name="TextBox 9"/>
          <p:cNvSpPr/>
          <p:nvPr/>
        </p:nvSpPr>
        <p:spPr>
          <a:xfrm>
            <a:off x="7150680" y="2039040"/>
            <a:ext cx="2394360" cy="288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0" u="none" strike="noStrike">
                <a:solidFill>
                  <a:srgbClr val="232323"/>
                </a:solidFill>
                <a:effectLst/>
                <a:uFillTx/>
                <a:latin typeface="Calibri"/>
              </a:rPr>
              <a:t>6903ded  review finding resolved</a:t>
            </a:r>
            <a:endParaRPr lang="en-US" sz="1300" b="0" u="none" strike="noStrike">
              <a:solidFill>
                <a:srgbClr val="000000"/>
              </a:solidFill>
              <a:effectLst/>
              <a:uFillTx/>
              <a:latin typeface="Arial"/>
            </a:endParaRPr>
          </a:p>
        </p:txBody>
      </p:sp>
      <p:sp>
        <p:nvSpPr>
          <p:cNvPr id="118" name="Oval 10"/>
          <p:cNvSpPr/>
          <p:nvPr/>
        </p:nvSpPr>
        <p:spPr>
          <a:xfrm>
            <a:off x="6949440" y="2679120"/>
            <a:ext cx="109440" cy="109440"/>
          </a:xfrm>
          <a:prstGeom prst="ellipse">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p>
            <a:endParaRPr lang="en-US" sz="1800" b="0" u="none" strike="noStrike">
              <a:solidFill>
                <a:schemeClr val="lt1"/>
              </a:solidFill>
              <a:effectLst/>
              <a:uFillTx/>
              <a:latin typeface="Calibri"/>
            </a:endParaRPr>
          </a:p>
        </p:txBody>
      </p:sp>
      <p:sp>
        <p:nvSpPr>
          <p:cNvPr id="119" name="TextBox 11"/>
          <p:cNvSpPr/>
          <p:nvPr/>
        </p:nvSpPr>
        <p:spPr>
          <a:xfrm>
            <a:off x="7150680" y="2660760"/>
            <a:ext cx="2527200" cy="288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0" u="none" strike="noStrike">
                <a:solidFill>
                  <a:srgbClr val="232323"/>
                </a:solidFill>
                <a:effectLst/>
                <a:uFillTx/>
                <a:latin typeface="Calibri"/>
              </a:rPr>
              <a:t>f59c5b2  ITC.003 + ITC.013 artifacts</a:t>
            </a:r>
            <a:endParaRPr lang="en-US" sz="1300" b="0" u="none" strike="noStrike">
              <a:solidFill>
                <a:srgbClr val="000000"/>
              </a:solidFill>
              <a:effectLst/>
              <a:uFillTx/>
              <a:latin typeface="Arial"/>
            </a:endParaRPr>
          </a:p>
        </p:txBody>
      </p:sp>
      <p:sp>
        <p:nvSpPr>
          <p:cNvPr id="120" name="Oval 12"/>
          <p:cNvSpPr/>
          <p:nvPr/>
        </p:nvSpPr>
        <p:spPr>
          <a:xfrm>
            <a:off x="6949440" y="3300840"/>
            <a:ext cx="109440" cy="109440"/>
          </a:xfrm>
          <a:prstGeom prst="ellipse">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p>
            <a:endParaRPr lang="en-US" sz="1800" b="0" u="none" strike="noStrike">
              <a:solidFill>
                <a:schemeClr val="lt1"/>
              </a:solidFill>
              <a:effectLst/>
              <a:uFillTx/>
              <a:latin typeface="Calibri"/>
            </a:endParaRPr>
          </a:p>
        </p:txBody>
      </p:sp>
      <p:sp>
        <p:nvSpPr>
          <p:cNvPr id="121" name="TextBox 13"/>
          <p:cNvSpPr/>
          <p:nvPr/>
        </p:nvSpPr>
        <p:spPr>
          <a:xfrm>
            <a:off x="7150680" y="3282840"/>
            <a:ext cx="2400120" cy="288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0" u="none" strike="noStrike">
                <a:solidFill>
                  <a:srgbClr val="232323"/>
                </a:solidFill>
                <a:effectLst/>
                <a:uFillTx/>
                <a:latin typeface="Calibri"/>
              </a:rPr>
              <a:t>cdf0584  test coverage expansion</a:t>
            </a:r>
            <a:endParaRPr lang="en-US" sz="1300" b="0" u="none" strike="noStrike">
              <a:solidFill>
                <a:srgbClr val="000000"/>
              </a:solidFill>
              <a:effectLst/>
              <a:uFillTx/>
              <a:latin typeface="Arial"/>
            </a:endParaRPr>
          </a:p>
        </p:txBody>
      </p:sp>
      <p:sp>
        <p:nvSpPr>
          <p:cNvPr id="122" name="Oval 14"/>
          <p:cNvSpPr/>
          <p:nvPr/>
        </p:nvSpPr>
        <p:spPr>
          <a:xfrm>
            <a:off x="6949440" y="3922920"/>
            <a:ext cx="109440" cy="109440"/>
          </a:xfrm>
          <a:prstGeom prst="ellipse">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p>
            <a:endParaRPr lang="en-US" sz="1800" b="0" u="none" strike="noStrike">
              <a:solidFill>
                <a:schemeClr val="lt1"/>
              </a:solidFill>
              <a:effectLst/>
              <a:uFillTx/>
              <a:latin typeface="Calibri"/>
            </a:endParaRPr>
          </a:p>
        </p:txBody>
      </p:sp>
      <p:sp>
        <p:nvSpPr>
          <p:cNvPr id="123" name="TextBox 15"/>
          <p:cNvSpPr/>
          <p:nvPr/>
        </p:nvSpPr>
        <p:spPr>
          <a:xfrm>
            <a:off x="7150680" y="3904560"/>
            <a:ext cx="2033280" cy="288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0" u="none" strike="noStrike">
                <a:solidFill>
                  <a:srgbClr val="232323"/>
                </a:solidFill>
                <a:effectLst/>
                <a:uFillTx/>
                <a:latin typeface="Calibri"/>
              </a:rPr>
              <a:t>60fb196  integration runner</a:t>
            </a:r>
            <a:endParaRPr lang="en-US" sz="1300" b="0" u="none" strike="noStrike">
              <a:solidFill>
                <a:srgbClr val="000000"/>
              </a:solidFill>
              <a:effectLst/>
              <a:uFillTx/>
              <a:latin typeface="Arial"/>
            </a:endParaRPr>
          </a:p>
        </p:txBody>
      </p:sp>
      <p:sp>
        <p:nvSpPr>
          <p:cNvPr id="124" name="Oval 16"/>
          <p:cNvSpPr/>
          <p:nvPr/>
        </p:nvSpPr>
        <p:spPr>
          <a:xfrm>
            <a:off x="6949440" y="4544640"/>
            <a:ext cx="109440" cy="109440"/>
          </a:xfrm>
          <a:prstGeom prst="ellipse">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2760" rIns="90000" bIns="32760" anchor="ctr">
            <a:noAutofit/>
          </a:bodyPr>
          <a:p>
            <a:endParaRPr lang="en-US" sz="1800" b="0" u="none" strike="noStrike">
              <a:solidFill>
                <a:schemeClr val="lt1"/>
              </a:solidFill>
              <a:effectLst/>
              <a:uFillTx/>
              <a:latin typeface="Calibri"/>
            </a:endParaRPr>
          </a:p>
        </p:txBody>
      </p:sp>
      <p:sp>
        <p:nvSpPr>
          <p:cNvPr id="125" name="TextBox 17"/>
          <p:cNvSpPr/>
          <p:nvPr/>
        </p:nvSpPr>
        <p:spPr>
          <a:xfrm>
            <a:off x="7150680" y="4526280"/>
            <a:ext cx="1742040" cy="288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0" u="none" strike="noStrike">
                <a:solidFill>
                  <a:srgbClr val="232323"/>
                </a:solidFill>
                <a:effectLst/>
                <a:uFillTx/>
                <a:latin typeface="Calibri"/>
              </a:rPr>
              <a:t>4429973  final checklist</a:t>
            </a:r>
            <a:endParaRPr lang="en-US" sz="1300" b="0" u="none" strike="noStrike">
              <a:solidFill>
                <a:srgbClr val="000000"/>
              </a:solidFill>
              <a:effectLst/>
              <a:uFillTx/>
              <a:latin typeface="Arial"/>
            </a:endParaRPr>
          </a:p>
        </p:txBody>
      </p:sp>
      <p:sp>
        <p:nvSpPr>
          <p:cNvPr id="126" name="TextBox 18"/>
          <p:cNvSpPr/>
          <p:nvPr/>
        </p:nvSpPr>
        <p:spPr>
          <a:xfrm>
            <a:off x="6812280" y="4983480"/>
            <a:ext cx="5224680" cy="2732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200" b="1" u="none" strike="noStrike">
                <a:solidFill>
                  <a:srgbClr val="6000A0"/>
                </a:solidFill>
                <a:effectLst/>
                <a:uFillTx/>
                <a:latin typeface="Calibri"/>
              </a:rPr>
              <a:t>Closing: spec-driven delivery + validated controls = demo-ready release posture.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Rectangle 1"/>
          <p:cNvSpPr/>
          <p:nvPr/>
        </p:nvSpPr>
        <p:spPr>
          <a:xfrm>
            <a:off x="0" y="0"/>
            <a:ext cx="12191400" cy="50256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8" name="Rectangle 2"/>
          <p:cNvSpPr/>
          <p:nvPr/>
        </p:nvSpPr>
        <p:spPr>
          <a:xfrm>
            <a:off x="0" y="6629400"/>
            <a:ext cx="12191400" cy="228240"/>
          </a:xfrm>
          <a:prstGeom prst="rect">
            <a:avLst/>
          </a:prstGeom>
          <a:solidFill>
            <a:srgbClr val="F2F2F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9" name="TextBox 3"/>
          <p:cNvSpPr/>
          <p:nvPr/>
        </p:nvSpPr>
        <p:spPr>
          <a:xfrm>
            <a:off x="10241280" y="109800"/>
            <a:ext cx="1173960" cy="2581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100" b="1" u="none" strike="noStrike">
                <a:solidFill>
                  <a:srgbClr val="FFFFFF"/>
                </a:solidFill>
                <a:effectLst/>
                <a:uFillTx/>
                <a:latin typeface="Calibri"/>
              </a:rPr>
              <a:t>Track A Capstone</a:t>
            </a:r>
            <a:endParaRPr lang="en-US" sz="1100" b="0" u="none" strike="noStrike">
              <a:solidFill>
                <a:srgbClr val="000000"/>
              </a:solidFill>
              <a:effectLst/>
              <a:uFillTx/>
              <a:latin typeface="Arial"/>
            </a:endParaRPr>
          </a:p>
        </p:txBody>
      </p:sp>
      <p:sp>
        <p:nvSpPr>
          <p:cNvPr id="130" name="Rectangle 4"/>
          <p:cNvSpPr/>
          <p:nvPr/>
        </p:nvSpPr>
        <p:spPr>
          <a:xfrm>
            <a:off x="0" y="502920"/>
            <a:ext cx="12191400" cy="612612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1" name="TextBox 5"/>
          <p:cNvSpPr/>
          <p:nvPr/>
        </p:nvSpPr>
        <p:spPr>
          <a:xfrm>
            <a:off x="914400" y="2103120"/>
            <a:ext cx="3116880" cy="91332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5400" b="1" u="none" strike="noStrike">
                <a:solidFill>
                  <a:srgbClr val="6000A0"/>
                </a:solidFill>
                <a:effectLst/>
                <a:uFillTx/>
                <a:latin typeface="Calibri"/>
              </a:rPr>
              <a:t>Thank You</a:t>
            </a:r>
            <a:endParaRPr lang="en-US" sz="5400" b="0" u="none" strike="noStrike">
              <a:solidFill>
                <a:srgbClr val="000000"/>
              </a:solidFill>
              <a:effectLst/>
              <a:uFillTx/>
              <a:latin typeface="Arial"/>
            </a:endParaRPr>
          </a:p>
        </p:txBody>
      </p:sp>
      <p:sp>
        <p:nvSpPr>
          <p:cNvPr id="132" name="TextBox 6"/>
          <p:cNvSpPr/>
          <p:nvPr/>
        </p:nvSpPr>
        <p:spPr>
          <a:xfrm>
            <a:off x="914400" y="3291840"/>
            <a:ext cx="820080" cy="4863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2600" b="0" u="none" strike="noStrike">
                <a:solidFill>
                  <a:srgbClr val="5A5A5A"/>
                </a:solidFill>
                <a:effectLst/>
                <a:uFillTx/>
                <a:latin typeface="Calibri"/>
              </a:rPr>
              <a:t>Q&amp;A</a:t>
            </a:r>
            <a:endParaRPr lang="en-US" sz="2600" b="0" u="none" strike="noStrike">
              <a:solidFill>
                <a:srgbClr val="000000"/>
              </a:solidFill>
              <a:effectLst/>
              <a:uFillTx/>
              <a:latin typeface="Arial"/>
            </a:endParaRPr>
          </a:p>
        </p:txBody>
      </p:sp>
      <p:sp>
        <p:nvSpPr>
          <p:cNvPr id="133" name="Rectangle 7"/>
          <p:cNvSpPr/>
          <p:nvPr/>
        </p:nvSpPr>
        <p:spPr>
          <a:xfrm>
            <a:off x="0" y="6035040"/>
            <a:ext cx="12191400" cy="594000"/>
          </a:xfrm>
          <a:prstGeom prst="rect">
            <a:avLst/>
          </a:prstGeom>
          <a:solidFill>
            <a:srgbClr val="A000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165</TotalTime>
  <Application>LibreOffice/26.2.4.1$Windows_X86_64 LibreOffice_project/1a563c585d9fd784842a5a6101a714090c4fd0fd</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2026-06-25T23:23:40Z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